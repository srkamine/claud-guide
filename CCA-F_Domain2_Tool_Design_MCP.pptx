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CCA-F Certification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11480" y="118872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11480" y="21488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&amp;</a:t>
            </a:r>
            <a:endParaRPr lang="en-US" sz="3000" dirty="0"/>
          </a:p>
          <a:p>
            <a:pPr indent="0" marL="0">
              <a:buNone/>
            </a:pPr>
            <a:r>
              <a:rPr lang="en-US" sz="3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Integration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411480" y="3429000"/>
            <a:ext cx="2194560" cy="64008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6118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Core Concepts  •  8 Practice Questions  •  ~20% of Exam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46634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Exam: 60 Qs  |  120 min  |  Pass: 720/1000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18288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 — 7 Concepts at a Glance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365760" y="731520"/>
            <a:ext cx="8412480" cy="54864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274320" y="9144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914400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789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Tool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77240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 + Description + Parameters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74320" y="19019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74320" y="1901952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066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77240" y="1975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Principles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7724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responsibility, clear descriptions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274320" y="288950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274320" y="2889504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054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7724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Design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names, enums, structured output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74320" y="3877056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274320" y="3877056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274320" y="4041648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77240" y="3950208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Boundaries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77240" y="4297680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tools max — no reasoning overload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54880" y="914400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914400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54880" y="1078992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257800" y="987552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Protocol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1335024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for AI — one server, many consumers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54880" y="1901952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1901952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754880" y="2066544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257800" y="1975104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Design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57800" y="2322576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Auth, errors, read/write separation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754880" y="2889504"/>
            <a:ext cx="420624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889504"/>
            <a:ext cx="411480" cy="80467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54880" y="3054096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5257800" y="2962656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Flows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5257800" y="3310128"/>
            <a:ext cx="3566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at tool level — high risk = confirm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7863840" y="3931920"/>
            <a:ext cx="1005840" cy="10058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863840" y="41605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Exam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01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 Tool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concept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097280"/>
            <a:ext cx="2606040" cy="15544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188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365760" y="1645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Claude calls 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search_web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46120" y="1097280"/>
            <a:ext cx="2606040" cy="155448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46120" y="1188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246120" y="1645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&amp; when to use 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tool selection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097280"/>
            <a:ext cx="2606040" cy="155448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18872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126480" y="1645920"/>
            <a:ext cx="26060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Claude constructs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{ query: string }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7889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asks → Claude thinks → Picks tool by description → Calls with parameters → Uses result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0040" y="32461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3310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Vague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57200" y="3611880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"Gets data"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3246120"/>
            <a:ext cx="4114800" cy="12344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846320" y="3310128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Clear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4846320" y="3611880"/>
            <a:ext cx="38404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"Retrieves order history. Use for order lookups.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NOT use for product catalog queries."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320040" y="4572000"/>
            <a:ext cx="8503920" cy="47548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62686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Description is the ONLY thing Claude uses to pick a tool. Vague description = wrong tool selected.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02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Design Principles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rules for reliable tools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972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97280"/>
            <a:ext cx="411480" cy="150876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6002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22960" y="1207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1600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tool does ONE thing.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'search and summarize' — that is two tools.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9728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097280"/>
            <a:ext cx="411480" cy="150876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60020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5257800" y="120700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Specific Description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257800" y="160020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 Claude WHEN to use 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when NOT to use it.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7889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20040" y="2788920"/>
            <a:ext cx="411480" cy="1508760"/>
          </a:xfrm>
          <a:prstGeom prst="rect">
            <a:avLst/>
          </a:prstGeom>
          <a:solidFill>
            <a:srgbClr val="6A1B9A"/>
          </a:solidFill>
          <a:ln w="12700">
            <a:solidFill>
              <a:srgbClr val="6A1B9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291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2898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Parameters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3291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ask what you absolutely need.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extra param = chance for Claude to err.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4114800" cy="150876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2788920"/>
            <a:ext cx="411480" cy="1508760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9184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5257800" y="289864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Output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257800" y="3291840"/>
            <a:ext cx="3474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consistent structured JSON.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struggles with variable response shapes.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" y="4553712"/>
            <a:ext cx="8503920" cy="47548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460857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Tool overloading — packing too much into one tool — is the #1 tool design mistake the exam tests.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03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prevents silent errors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2471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names — no abbreviations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142646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{ usr_id, amt }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480560" y="142646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{ user_id, refund_amount_usd }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320040" y="2039112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208483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 units in the name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38658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{ timeout }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480560" y="238658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{ timeout_seconds }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999232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04495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enums for fixed choices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334670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status: string  → "active","Active","ACTIVE"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480560" y="334670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status: enum["active","inactive","pending"]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20040" y="3959352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57200" y="4005072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JSON output always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306824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"User was updated"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480560" y="4306824"/>
            <a:ext cx="42062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{ success, user_id, updated_fields[] }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47548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183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Ambiguous parameters cause SILENT errors — Claude fills in something reasonable-sounding but wrong. System appears to work until it doesn't.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04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Boundaries &amp; Reasoning Overload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 tools per agent max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happens with too many tools: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508760"/>
            <a:ext cx="15087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D1E5F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5361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tools given to agent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1719072" y="17099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048256" y="1508760"/>
            <a:ext cx="15087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D1E5F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048256" y="15361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all 30 descriptions every turn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3401568" y="17099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730752" y="1508760"/>
            <a:ext cx="15087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D1E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730752" y="15361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tools cause confusion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84064" y="17099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413248" y="1508760"/>
            <a:ext cx="1508760" cy="640080"/>
          </a:xfrm>
          <a:prstGeom prst="rect">
            <a:avLst/>
          </a:prstGeom>
          <a:solidFill>
            <a:srgbClr val="EBF5FB"/>
          </a:solidFill>
          <a:ln w="12700">
            <a:solidFill>
              <a:srgbClr val="D1E5F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13248" y="15361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tool selected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766560" y="1709928"/>
            <a:ext cx="228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7095744" y="1508760"/>
            <a:ext cx="1508760" cy="64008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95744" y="1536192"/>
            <a:ext cx="1508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Cascading failures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320040" y="263347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Fixes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0040" y="3035808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84048" y="3108960"/>
            <a:ext cx="320040" cy="3200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84048" y="3118104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04672" y="30815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into specialized agents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804672" y="3291840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agents × 5 tools each instead of 1 agent × 25 tools. Hub routes to right agent.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3602736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84048" y="3675888"/>
            <a:ext cx="320040" cy="3200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" y="3685032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04672" y="3648456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Dynamic tool loading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04672" y="3858768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expose tools relevant to current task context. Billing agent doesn't need code tools.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0040" y="4169664"/>
            <a:ext cx="85039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384048" y="4242816"/>
            <a:ext cx="320040" cy="320040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84048" y="4251960"/>
            <a:ext cx="320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804672" y="4215384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related tools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804672" y="4425696"/>
            <a:ext cx="7772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always work together belong to the same specialized agent.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320040" y="4663440"/>
            <a:ext cx="8503920" cy="47548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47183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Too many tools = reasoning overload. Fix is architectural — split agents. Better descriptions do NOT solve this.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05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Context Protocol (MCP)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USB-C for AI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40233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1078992"/>
            <a:ext cx="4023360" cy="411480"/>
          </a:xfrm>
          <a:prstGeom prst="rect">
            <a:avLst/>
          </a:prstGeom>
          <a:solidFill>
            <a:srgbClr val="E05C2A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115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MCP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72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A: custom DB connector + auth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B: same connector rebuilt + auth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7200" y="24871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C: same connector rebuilt + auth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944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changes → ALL 3 teams update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3401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rotates → ALL 3 scramble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0600" y="1078992"/>
            <a:ext cx="4023360" cy="2971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800600" y="1078992"/>
            <a:ext cx="4023360" cy="411480"/>
          </a:xfrm>
          <a:prstGeom prst="rect">
            <a:avLst/>
          </a:prstGeom>
          <a:solidFill>
            <a:srgbClr val="0E8A5F"/>
          </a:solidFill>
          <a:ln w="12700">
            <a:solidFill>
              <a:srgbClr val="0E8A5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00600" y="1115568"/>
            <a:ext cx="40233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MCP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15727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MCP server wraps the database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20299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teams connect instantly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37760" y="24871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handled inside server once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37760" y="29443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changes → update ONE server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37760" y="3401568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</a:t>
            </a:r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rotates → fix ONE place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20040" y="41605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= Server  +  Client  +  Transport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20040" y="4645152"/>
            <a:ext cx="8503920" cy="47548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700016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MCP is NOT a tool — it is the protocol that EXPOSES tools. MCP = standard. Tools = what MCP servers expose.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05b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vs Normal API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difference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051560"/>
          <a:ext cx="8503920" cy="3474720"/>
        </p:xfrm>
        <a:graphic>
          <a:graphicData uri="http://schemas.openxmlformats.org/drawingml/2006/table">
            <a:tbl>
              <a:tblPr/>
              <a:tblGrid>
                <a:gridCol w="2011680"/>
                <a:gridCol w="3200400"/>
                <a:gridCol w="3291840"/>
              </a:tblGrid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Normal 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Designed for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Developers writing code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directly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description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included — docs only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Built into every tool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 handling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Developer writes every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handles centrally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 glue code each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Plug and play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Reusability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Teams rewrite same wrapper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server, all teams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Discovery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Read docs manually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asks server at runtime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343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changes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team updates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E8A5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Update ONE MCP server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320040" y="4645152"/>
            <a:ext cx="8503920" cy="384048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4700016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MCP server = centralized tool definition, auth, and error handling — consumed by any Claude agent without reimplementation.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06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Design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it right once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84048" y="1280160"/>
            <a:ext cx="384048" cy="384048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289304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68680" y="1152144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Focused well-described tools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146304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responsibility + clear descriptions + typed parameters — same rules as tool design.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20040" y="1975104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84048" y="2176272"/>
            <a:ext cx="384048" cy="384048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2185416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68680" y="2048256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error responses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2359152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"NullPointerException at line 42"   ✅ { success: false, error_code: "USER_NOT_FOUND" }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84048" y="3072384"/>
            <a:ext cx="384048" cy="384048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84048" y="3081528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" y="2944368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read vs write tools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68680" y="3255264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get_customer() = safe read.  update_customer() = careful write.  delete_customer() = needs guardrail.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850392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84048" y="3968496"/>
            <a:ext cx="384048" cy="384048"/>
          </a:xfrm>
          <a:prstGeom prst="ellipse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84048" y="3977640"/>
            <a:ext cx="38404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68680" y="3840480"/>
            <a:ext cx="7772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 at server level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868680" y="4151376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NEVER sees API keys or passwords. Credentials stay inside MCP server — never in parameters.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645152"/>
          <a:ext cx="8503920" cy="384048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3200400"/>
              </a:tblGrid>
              <a:tr h="128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 Type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Example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Claude Should...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Transient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Network timeout, rate limit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with backoff (max 3)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2801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Permanent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Invalid ID, unauthorized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Stop and report — never retry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07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Flows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HITL at tool level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20040" y="1078992"/>
            <a:ext cx="8503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+ reversible → Execute directly          High risk + irreversible → Confirm first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1536192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20040" y="1536192"/>
            <a:ext cx="411480" cy="8412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0040" y="1792224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22960" y="1591056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Pre-execution Confirmation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22960" y="1920240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describes what it will do — waits for "yes" before calling tool.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 am about to delete 847 records. Confirm?"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0040" y="2523744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523744"/>
            <a:ext cx="411480" cy="8412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0040" y="2779776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22960" y="2578608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Confirmation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22960" y="2907792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shows exact parameters it will use — user verifies before execution.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"Sending $5,000 to account #9821. Amount and account correct?"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0040" y="3511296"/>
            <a:ext cx="85039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3511296"/>
            <a:ext cx="411480" cy="841248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3767328"/>
            <a:ext cx="411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2960" y="3566160"/>
            <a:ext cx="7863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Dry Run First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3895344"/>
            <a:ext cx="7863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executes in read-only preview mode first — shows what WOULD happen — then confirms.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"This would archive 120 emails. Proceed?"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0040" y="4663440"/>
            <a:ext cx="8503920" cy="475488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4718304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Confirmation flows are NOT just for destructive actions. High-value, hard-to-reverse, OR ambiguous actions all need them.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73152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 06b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20040" y="347472"/>
            <a:ext cx="6858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Security — Credentials &amp; Access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7315200" y="320040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exam topic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78992"/>
            <a:ext cx="8503920" cy="1417320"/>
          </a:xfrm>
          <a:prstGeom prst="rect">
            <a:avLst/>
          </a:prstGeom>
          <a:solidFill>
            <a:srgbClr val="FEF0EB"/>
          </a:solidFill>
          <a:ln w="19050">
            <a:solidFill>
              <a:srgbClr val="E05C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1430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05C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❌  Wrong Design — Credentials in Parameters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148132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{ account_id, api_key: "sk-prod-x8k2...", db_password: "Fin@nce2024!" 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travel through Claude context → conversation history → logs → visible to anyone with access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633472"/>
            <a:ext cx="8503920" cy="14173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7200" y="26974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Correct Design — Auth Inside MCP Server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3035808"/>
            <a:ext cx="8229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Parameters: { account_id: string }   ← only business data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holds: API keys in env vars, DB password in secrets manager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6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validates: user is authorized to access that account_id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4133088"/>
          <a:ext cx="85039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6217920"/>
              </a:tblGrid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Layer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does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Secrets management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 keys in env vars / secrets manager — never in code or params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 authenticates to backend — Claude never sees credentials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Authorization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Validates user can access the requested resource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828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Audit logging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 accessed what, when — separate from chat logs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E9F8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0972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Check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Scenario-Based Questions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457200" y="24231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+ MCP — real exam style scenarios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371600" y="320040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37160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5-10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371600" y="38587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per Agent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931920" y="320040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93192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931920" y="38587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Tool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3200400"/>
            <a:ext cx="18288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492240" y="329184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492240" y="3858768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support agent has one tool called handle_customer that looks up orders, processes refunds, updates addresses, cancels orders, and sends emails. The agent frequently picks the wrong action.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 overloading. One tool doing 5 things = Claude has no way to distinguish actions. Fix: split into 5 focused tools — get_order_history, process_refund, update_shipping_address, cancel_order, send_followup_email. Each with a clear description of when to use it AND when NOT to.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Single responsibility per tool is the #1 tool design rule. If a tool has multiple actions, split it.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tool: { amount: number, account: string, type: string }. User says "Make a fast payment of 100 to account 9821." Claude fills in { amount: 100, account: "9821", type: "fast" } and executes immediately.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problems: (1) Amount has no denomination — 100 what? Fix: amount_in_pence + currency_code enum. (2) Account is ambiguous — fix: destination_account_number with format spec. (3) Type is free string — fix: enum[standard, express, international]. (4) No confirmation flow — payment is irreversible, must confirm before executing. (5) No structured error response defined for failures.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Payment tools need: typed params + enums + confirmation flow + structured error output. All five, not just one.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Claude agent has 22 tools across orders, customers, products, communications, support tickets, and data operations. It keeps selecting wrong tools despite good descriptions.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Reasoning overload. 22 tools exceeds the 5-10 tool ceiling for reliable selection. Architectural fix: split into 5 specialized agents via hub-and-spoke. Order Agent (4 tools), Customer Agent (4 tools), Product Agent (3 tools), Communication Agent (3 tools), Data Agent (4 tools). Hub orchestrator routes requests to the right agent.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Better descriptions do NOT fix reasoning overload. The fix is always architectural — split agents, reduce tools per agent.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Q4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database tool returns a raw Java stack trace on failure: "Connection refused - java.net.ConnectException at com.database.Connection.java:42". Claude retries 47 times, burning tokens and crashing the system.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failures: (1) Unstructured error — Claude cannot classify the error so assumes retrying might work. Fix: return { success: false, error_code: DB_CONNECTION_REFUSED, error_type: transient, retry_recommended: true }. (2) No retry limit — Claude retried 47 times with no boundary. Fix: max 3 retries with backoff (2s→4s→8s), then escalate to human and stop.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Always identify both failures: unstructured error AND no retry limit. The exam often bundles them in one scenario.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Q5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Leave request agent: (1) checks balance, (2) validates calendar, (3) approves and updates HR system automatically, (4) sends confirmation email. Manager complains leave approved during critical project week without review.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problems: (1) approve_leave does two things — split into approve_leave and update_hr_system. (2) No HITL — approval is irreversible and business-impacting, must pause for manager review. (3) No confirmation flow — show dates, employee, days before executing. (4) Email fires regardless of outcome — send_email must only execute if approved; rejection routes to send_rejection_email instead.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Scan every step in a pipeline: tool overloading, missing HITL, missing confirmation, wrong sequencing — can all appear together.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Q6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server exposes: Tool: hr_operations, Description: "Handles all HR operations", Parameters: { operation: string, employee_id: string, data: object }. Three teams connect — all frequently call wrong operations or pass incorrect data.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problems: (1) Tool overloading — split into get_employee, update_employee, process_leave_request, get_payroll_summary. (2) Vague description — no guidance on when to use or not use. (3) operation: string — needs enum or full tool split. (4) data: object — completely untyped, every team passes different shapes. (5) No structured return format defined. Fix: one tool per operation, typed parameters, explicit descriptions with NOT-USE guidance, consistent JSON output.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MCP tools follow the exact same design rules as regular tools — single responsibility, typed params, clear descriptions, structured output.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Q7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A calls get_customer → receives { id: 123, name: John, status: active }. Agent B calls the same tool for the same customer → receives 'Customer John is currently active (ID: 123)'. Both agents make different decisions for the same customer.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output format violation. The MCP server is returning JSON to Agent A and plain text to Agent B. Claude parses tool output to decide next steps — inconsistent format means different parsing, different decisions for identical data. Fix: MCP server must always return the same structured JSON schema regardless of which agent calls it: { success, customer_id, name, status: enum[active, inactive, suspended] }.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A well-designed MCP server is a contract — same input, same output shape, every time, every caller. Inconsistency = unpredictable Claude behavior.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30352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9144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Q8 of 8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828800" y="9144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640080"/>
            <a:ext cx="8503920" cy="1417320"/>
          </a:xfrm>
          <a:prstGeom prst="rect">
            <a:avLst/>
          </a:prstGeom>
          <a:solidFill>
            <a:srgbClr val="FFFFFF"/>
          </a:solidFill>
          <a:ln w="12700">
            <a:solidFill>
              <a:srgbClr val="D1E5F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7132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SCENARIO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969264"/>
            <a:ext cx="8229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MCP tool get_financial_records has parameters: { account_id, api_key: "sk-prod-x8k2...", db_password: "Fin@nce2024!" }. Credentials appear in conversation history. Any account can be accessed by any user.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0040" y="2176272"/>
            <a:ext cx="8503920" cy="2331720"/>
          </a:xfrm>
          <a:prstGeom prst="rect">
            <a:avLst/>
          </a:prstGeom>
          <a:solidFill>
            <a:srgbClr val="E6F5EF"/>
          </a:solidFill>
          <a:ln w="19050">
            <a:solidFill>
              <a:srgbClr val="0E8A5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2677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8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ANSWER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606040"/>
            <a:ext cx="82296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problems: (1) Credentials in parameters — travel through Claude context, conversation history, and logs. (2) Credentials visible to anyone with log or chat access — massive breach. (3) No access control — description says any account, no authorization check. (4) No user authorization — tool doesn't verify requesting user owns account_id. (5) No structured output. Fix: credentials in MCP server env vars/secrets manager only. Parameters contain only business data. Server validates user owns requested account_id before executing.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20040" y="4617720"/>
            <a:ext cx="8503920" cy="384048"/>
          </a:xfrm>
          <a:prstGeom prst="rect">
            <a:avLst/>
          </a:prstGeom>
          <a:solidFill>
            <a:srgbClr val="FEF0EB"/>
          </a:solidFill>
          <a:ln w="12700">
            <a:solidFill>
              <a:srgbClr val="E05C2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4654296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A2E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Golden rule: credentials NEVER travel through Claude. Auth lives in the MCP server. Claude only passes business parameters.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4F8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 — Quick Reference Cheat Sheet</a:t>
            </a:r>
            <a:endParaRPr lang="en-US" sz="20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749808"/>
          <a:ext cx="8503920" cy="4251960"/>
        </p:xfrm>
        <a:graphic>
          <a:graphicData uri="http://schemas.openxmlformats.org/drawingml/2006/table">
            <a:tbl>
              <a:tblPr/>
              <a:tblGrid>
                <a:gridCol w="1828800"/>
                <a:gridCol w="3474720"/>
                <a:gridCol w="3200400"/>
              </a:tblGrid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Rule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Exam Signal Words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3E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is a Tool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 drives selection. Name + Desc + Params.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'picks wrong tool', 'vague description'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responsibility. One tool, one action.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'handle_customer', 'manage_user', multi-action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 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Explicit names, units, enums, typed JSON output.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'amount: number', free string, inconsistent output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Boundaries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5-10 tools max per agent. More = reasoning overload.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'22 tools', 'wrong tool despite good descriptions'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Protocol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Standard protocol. One server, all teams. No duplication.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'each team builds', 'custom integration', 'reuse'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Server Design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Structured errors, read/write split, auth at server.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'stack trace returned', 'retry forever', 'raw error'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Confirmation Flows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 risk/value/ambiguous = confirm before executing.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'executed immediately', 'no review', 'auto-approved'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724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MCP Security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Credentials never in params. Auth inside server only.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D1B3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'api_key in params', 'password passed to Claude'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1E5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BF5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9F8E"/>
          </a:solidFill>
          <a:ln w="12700">
            <a:solidFill>
              <a:srgbClr val="0E9F8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91440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2 Complete ✓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411480" y="17373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C8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exam-ready on Tool Design &amp; MCP Integration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11480" y="2423160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Next: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28346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3: Claude Code Configuration &amp; Workflows (~20%)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11480" y="32918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4: Prompt Engineering &amp; Structured Output (~17%)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374904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9F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</a:t>
            </a:r>
            <a:pPr indent="0" marL="0">
              <a:buNone/>
            </a:pPr>
            <a:r>
              <a:rPr lang="en-US" sz="1200" dirty="0">
                <a:solidFill>
                  <a:srgbClr val="8EAE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5: Context Management &amp; Reliability (~16%)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11480" y="4389120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577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Golden thread: Make Claude's decisions predictable — good descriptions, focused tools, structured outputs.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CCA-F Domain 2 – Tool Design &amp; MCP Integration</dc:title>
  <dc:subject>PptxGenJS Presentation</dc:subject>
  <dc:creator>PptxGenJS</dc:creator>
  <cp:lastModifiedBy>PptxGenJS</cp:lastModifiedBy>
  <cp:revision>1</cp:revision>
  <dcterms:created xsi:type="dcterms:W3CDTF">2026-06-03T03:49:36Z</dcterms:created>
  <dcterms:modified xsi:type="dcterms:W3CDTF">2026-06-03T03:49:36Z</dcterms:modified>
</cp:coreProperties>
</file>