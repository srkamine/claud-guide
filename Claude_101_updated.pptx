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7" r:id="rId11"/>
    <p:sldId id="271" r:id="rId12"/>
    <p:sldId id="272" r:id="rId13"/>
    <p:sldId id="273" r:id="rId14"/>
    <p:sldId id="274" r:id="rId15"/>
    <p:sldId id="275" r:id="rId16"/>
    <p:sldId id="269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022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Three modes of Claude. Chat = conversation on any device. Cowork = autonomous task agent (desktop full, web/mobile beta July 2026). Code = developer coding agent (desktop, terminal, VS Code, web). Availability grid shows which mode works 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Desktop = full native app with all 3 modes. API = developer platform to build products. Chrome = browser extension. Claude Tag = Slack integration. Also: Claude in Excel &amp; PowerPoint add-ins.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of 2. Section 1: All 3 modes can handle everyday tasks — Chat is fastest/simplest. Section 2: Files &amp; real work — Chat cannot touch disk/save files/run in background. Cowork can do all of this. Key rule: Chat = think &amp; advise.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of 2. Section 3: Code developer work — only Code mode has terminal, git, and full codebase context. Decision guide: Chat = quick answers/drafts. Cowork = finished files from your disk. Code = real codebase work. API = build your own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Shared features across all 3 modes. File uploads: Chat has 20-file/30MB limit; Cowork and Code point directly at folders. Memory: Chat auto-summarises across sessions; Cowork writes to /memory folder; Code uses CLAUDE.md. Projects: persistent workspace with shared files and instructions. Connectors: MCP-based integrations to 200+ apps. Skills: how-to instructions Claude reads. Plugins: one-click bundles of skills + connectors. Artifacts: Chat/Cowork show live previews; Code writes directly to files. Web search: available in all 3 modes.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0" y="182880"/>
            <a:ext cx="5120640" cy="5120640"/>
          </a:xfrm>
          <a:prstGeom prst="ellipse">
            <a:avLst/>
          </a:prstGeom>
          <a:solidFill>
            <a:srgbClr val="A855F7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1887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101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365760" y="22860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Introduction to Anthropic's AI Assistant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0" y="2926080"/>
            <a:ext cx="2743200" cy="36576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30632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  ·  How it works  ·  How to use it  ·  The API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Anthropic  ·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101" name="Shape 0"/>
          <p:cNvSpPr/>
          <p:nvPr/>
        </p:nvSpPr>
        <p:spPr>
          <a:xfrm>
            <a:off x="365760" y="900000"/>
            <a:ext cx="4114800" cy="540000"/>
          </a:xfrm>
          <a:prstGeom prst="rect">
            <a:avLst/>
          </a:prstGeom>
          <a:solidFill>
            <a:srgbClr val="1E2130"/>
          </a:solidFill>
          <a:ln w="9525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Num 0"/>
          <p:cNvSpPr/>
          <p:nvPr/>
        </p:nvSpPr>
        <p:spPr>
          <a:xfrm>
            <a:off x="502920" y="981000"/>
            <a:ext cx="5029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  <a:latin typeface="Arial" pitchFamily="34" charset="0"/>
              </a:rPr>
              <a:t>01</a:t>
            </a:r>
            <a:endParaRPr lang="en-US" sz="1400" dirty="0"/>
          </a:p>
        </p:txBody>
      </p:sp>
      <p:sp>
        <p:nvSpPr>
          <p:cNvPr id="103" name="Title 0"/>
          <p:cNvSpPr/>
          <p:nvPr/>
        </p:nvSpPr>
        <p:spPr>
          <a:xfrm>
            <a:off x="1051560" y="981000"/>
            <a:ext cx="32918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</a:rPr>
              <a:t>What is Claude?</a:t>
            </a:r>
            <a:endParaRPr lang="en-US" sz="1100" dirty="0"/>
          </a:p>
        </p:txBody>
      </p:sp>
      <p:sp>
        <p:nvSpPr>
          <p:cNvPr id="104" name="Sub 0"/>
          <p:cNvSpPr/>
          <p:nvPr/>
        </p:nvSpPr>
        <p:spPr>
          <a:xfrm>
            <a:off x="1051560" y="1239665"/>
            <a:ext cx="329184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</a:rPr>
              <a:t>Origins, mission &amp; Anthropic</a:t>
            </a:r>
            <a:endParaRPr lang="en-US" sz="900" dirty="0"/>
          </a:p>
        </p:txBody>
      </p:sp>
      <p:sp>
        <p:nvSpPr>
          <p:cNvPr id="105" name="Shape 1"/>
          <p:cNvSpPr/>
          <p:nvPr/>
        </p:nvSpPr>
        <p:spPr>
          <a:xfrm>
            <a:off x="4617720" y="900000"/>
            <a:ext cx="4114800" cy="540000"/>
          </a:xfrm>
          <a:prstGeom prst="rect">
            <a:avLst/>
          </a:prstGeom>
          <a:solidFill>
            <a:srgbClr val="1E2130"/>
          </a:solidFill>
          <a:ln w="9525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Num 1"/>
          <p:cNvSpPr/>
          <p:nvPr/>
        </p:nvSpPr>
        <p:spPr>
          <a:xfrm>
            <a:off x="4754880" y="981000"/>
            <a:ext cx="5029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66F1"/>
                </a:solidFill>
                <a:latin typeface="Arial" pitchFamily="34" charset="0"/>
              </a:rPr>
              <a:t>02</a:t>
            </a:r>
            <a:endParaRPr lang="en-US" sz="1400" dirty="0"/>
          </a:p>
        </p:txBody>
      </p:sp>
      <p:sp>
        <p:nvSpPr>
          <p:cNvPr id="107" name="Title 1"/>
          <p:cNvSpPr/>
          <p:nvPr/>
        </p:nvSpPr>
        <p:spPr>
          <a:xfrm>
            <a:off x="5303520" y="981000"/>
            <a:ext cx="32918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</a:rPr>
              <a:t>How Claude Thinks</a:t>
            </a:r>
            <a:endParaRPr lang="en-US" sz="1100" dirty="0"/>
          </a:p>
        </p:txBody>
      </p:sp>
      <p:sp>
        <p:nvSpPr>
          <p:cNvPr id="108" name="Sub 1"/>
          <p:cNvSpPr/>
          <p:nvPr/>
        </p:nvSpPr>
        <p:spPr>
          <a:xfrm>
            <a:off x="5303520" y="1239665"/>
            <a:ext cx="329184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</a:rPr>
              <a:t>LLMs, training &amp; architecture</a:t>
            </a:r>
            <a:endParaRPr lang="en-US" sz="900" dirty="0"/>
          </a:p>
        </p:txBody>
      </p:sp>
      <p:sp>
        <p:nvSpPr>
          <p:cNvPr id="109" name="Shape 2"/>
          <p:cNvSpPr/>
          <p:nvPr/>
        </p:nvSpPr>
        <p:spPr>
          <a:xfrm>
            <a:off x="365760" y="1485000"/>
            <a:ext cx="4114800" cy="540000"/>
          </a:xfrm>
          <a:prstGeom prst="rect">
            <a:avLst/>
          </a:prstGeom>
          <a:solidFill>
            <a:srgbClr val="1E2130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Num 2"/>
          <p:cNvSpPr/>
          <p:nvPr/>
        </p:nvSpPr>
        <p:spPr>
          <a:xfrm>
            <a:off x="502920" y="1566000"/>
            <a:ext cx="5029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Arial" pitchFamily="34" charset="0"/>
              </a:rPr>
              <a:t>03</a:t>
            </a:r>
            <a:endParaRPr lang="en-US" sz="1400" dirty="0"/>
          </a:p>
        </p:txBody>
      </p:sp>
      <p:sp>
        <p:nvSpPr>
          <p:cNvPr id="111" name="Title 2"/>
          <p:cNvSpPr/>
          <p:nvPr/>
        </p:nvSpPr>
        <p:spPr>
          <a:xfrm>
            <a:off x="1051560" y="1566000"/>
            <a:ext cx="32918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</a:rPr>
              <a:t>Core Capabilities</a:t>
            </a:r>
            <a:endParaRPr lang="en-US" sz="1100" dirty="0"/>
          </a:p>
        </p:txBody>
      </p:sp>
      <p:sp>
        <p:nvSpPr>
          <p:cNvPr id="112" name="Sub 2"/>
          <p:cNvSpPr/>
          <p:nvPr/>
        </p:nvSpPr>
        <p:spPr>
          <a:xfrm>
            <a:off x="1051560" y="1824665"/>
            <a:ext cx="329184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</a:rPr>
              <a:t>Writing, coding, analysis &amp; more</a:t>
            </a:r>
            <a:endParaRPr lang="en-US" sz="900" dirty="0"/>
          </a:p>
        </p:txBody>
      </p:sp>
      <p:sp>
        <p:nvSpPr>
          <p:cNvPr id="113" name="Shape 3"/>
          <p:cNvSpPr/>
          <p:nvPr/>
        </p:nvSpPr>
        <p:spPr>
          <a:xfrm>
            <a:off x="4617720" y="1485000"/>
            <a:ext cx="4114800" cy="540000"/>
          </a:xfrm>
          <a:prstGeom prst="rect">
            <a:avLst/>
          </a:prstGeom>
          <a:solidFill>
            <a:srgbClr val="1E2130"/>
          </a:solidFill>
          <a:ln w="952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Num 3"/>
          <p:cNvSpPr/>
          <p:nvPr/>
        </p:nvSpPr>
        <p:spPr>
          <a:xfrm>
            <a:off x="4754880" y="1566000"/>
            <a:ext cx="5029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</a:rPr>
              <a:t>04</a:t>
            </a:r>
            <a:endParaRPr lang="en-US" sz="1400" dirty="0"/>
          </a:p>
        </p:txBody>
      </p:sp>
      <p:sp>
        <p:nvSpPr>
          <p:cNvPr id="115" name="Title 3"/>
          <p:cNvSpPr/>
          <p:nvPr/>
        </p:nvSpPr>
        <p:spPr>
          <a:xfrm>
            <a:off x="5303520" y="1566000"/>
            <a:ext cx="32918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</a:rPr>
              <a:t>Safety &amp; Values</a:t>
            </a:r>
            <a:endParaRPr lang="en-US" sz="1100" dirty="0"/>
          </a:p>
        </p:txBody>
      </p:sp>
      <p:sp>
        <p:nvSpPr>
          <p:cNvPr id="116" name="Sub 3"/>
          <p:cNvSpPr/>
          <p:nvPr/>
        </p:nvSpPr>
        <p:spPr>
          <a:xfrm>
            <a:off x="5303520" y="1824665"/>
            <a:ext cx="329184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</a:rPr>
              <a:t>Constitutional AI &amp; honest design</a:t>
            </a:r>
            <a:endParaRPr lang="en-US" sz="900" dirty="0"/>
          </a:p>
        </p:txBody>
      </p:sp>
      <p:sp>
        <p:nvSpPr>
          <p:cNvPr id="117" name="Shape 4"/>
          <p:cNvSpPr/>
          <p:nvPr/>
        </p:nvSpPr>
        <p:spPr>
          <a:xfrm>
            <a:off x="365760" y="2070000"/>
            <a:ext cx="4114800" cy="540000"/>
          </a:xfrm>
          <a:prstGeom prst="rect">
            <a:avLst/>
          </a:prstGeom>
          <a:solidFill>
            <a:srgbClr val="1E2130"/>
          </a:solidFill>
          <a:ln w="9525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Num 4"/>
          <p:cNvSpPr/>
          <p:nvPr/>
        </p:nvSpPr>
        <p:spPr>
          <a:xfrm>
            <a:off x="502920" y="2151000"/>
            <a:ext cx="5029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11D48"/>
                </a:solidFill>
                <a:latin typeface="Arial" pitchFamily="34" charset="0"/>
              </a:rPr>
              <a:t>05</a:t>
            </a:r>
            <a:endParaRPr lang="en-US" sz="1400" dirty="0"/>
          </a:p>
        </p:txBody>
      </p:sp>
      <p:sp>
        <p:nvSpPr>
          <p:cNvPr id="119" name="Title 4"/>
          <p:cNvSpPr/>
          <p:nvPr/>
        </p:nvSpPr>
        <p:spPr>
          <a:xfrm>
            <a:off x="1051560" y="2151000"/>
            <a:ext cx="32918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</a:rPr>
              <a:t>Claude Model Tiers</a:t>
            </a:r>
            <a:endParaRPr lang="en-US" sz="1100" dirty="0"/>
          </a:p>
        </p:txBody>
      </p:sp>
      <p:sp>
        <p:nvSpPr>
          <p:cNvPr id="120" name="Sub 4"/>
          <p:cNvSpPr/>
          <p:nvPr/>
        </p:nvSpPr>
        <p:spPr>
          <a:xfrm>
            <a:off x="1051560" y="2403180"/>
            <a:ext cx="329184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</a:rPr>
              <a:t>Haiku, Sonnet, Opus, Fable 5</a:t>
            </a:r>
            <a:endParaRPr lang="en-US" sz="900" dirty="0"/>
          </a:p>
        </p:txBody>
      </p:sp>
      <p:sp>
        <p:nvSpPr>
          <p:cNvPr id="121" name="Shape 5"/>
          <p:cNvSpPr/>
          <p:nvPr/>
        </p:nvSpPr>
        <p:spPr>
          <a:xfrm>
            <a:off x="4617720" y="2070000"/>
            <a:ext cx="4114800" cy="540000"/>
          </a:xfrm>
          <a:prstGeom prst="rect">
            <a:avLst/>
          </a:prstGeom>
          <a:solidFill>
            <a:srgbClr val="1E2130"/>
          </a:solidFill>
          <a:ln w="9525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Num 5"/>
          <p:cNvSpPr/>
          <p:nvPr/>
        </p:nvSpPr>
        <p:spPr>
          <a:xfrm>
            <a:off x="4754880" y="2151000"/>
            <a:ext cx="5029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72B6"/>
                </a:solidFill>
                <a:latin typeface="Arial" pitchFamily="34" charset="0"/>
              </a:rPr>
              <a:t>06</a:t>
            </a:r>
            <a:endParaRPr lang="en-US" sz="1400" dirty="0"/>
          </a:p>
        </p:txBody>
      </p:sp>
      <p:sp>
        <p:nvSpPr>
          <p:cNvPr id="123" name="Title 5"/>
          <p:cNvSpPr/>
          <p:nvPr/>
        </p:nvSpPr>
        <p:spPr>
          <a:xfrm>
            <a:off x="5303520" y="2151000"/>
            <a:ext cx="32918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</a:rPr>
              <a:t>How to Use Claude Effectively</a:t>
            </a:r>
            <a:endParaRPr lang="en-US" sz="1100" dirty="0"/>
          </a:p>
        </p:txBody>
      </p:sp>
      <p:sp>
        <p:nvSpPr>
          <p:cNvPr id="124" name="Sub 5"/>
          <p:cNvSpPr/>
          <p:nvPr/>
        </p:nvSpPr>
        <p:spPr>
          <a:xfrm>
            <a:off x="5303520" y="2403180"/>
            <a:ext cx="329184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</a:rPr>
              <a:t>Prompting tips &amp; best practices</a:t>
            </a:r>
            <a:endParaRPr lang="en-US" sz="900" dirty="0"/>
          </a:p>
        </p:txBody>
      </p:sp>
      <p:sp>
        <p:nvSpPr>
          <p:cNvPr id="125" name="Shape 6"/>
          <p:cNvSpPr/>
          <p:nvPr/>
        </p:nvSpPr>
        <p:spPr>
          <a:xfrm>
            <a:off x="365760" y="2655000"/>
            <a:ext cx="4114800" cy="540000"/>
          </a:xfrm>
          <a:prstGeom prst="rect">
            <a:avLst/>
          </a:prstGeom>
          <a:solidFill>
            <a:srgbClr val="1E2130"/>
          </a:solidFill>
          <a:ln w="9525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Num 6"/>
          <p:cNvSpPr/>
          <p:nvPr/>
        </p:nvSpPr>
        <p:spPr>
          <a:xfrm>
            <a:off x="502920" y="2736000"/>
            <a:ext cx="5029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CC15"/>
                </a:solidFill>
                <a:latin typeface="Arial" pitchFamily="34" charset="0"/>
              </a:rPr>
              <a:t>07</a:t>
            </a:r>
            <a:endParaRPr lang="en-US" sz="1400" dirty="0"/>
          </a:p>
        </p:txBody>
      </p:sp>
      <p:sp>
        <p:nvSpPr>
          <p:cNvPr id="127" name="Title 6"/>
          <p:cNvSpPr/>
          <p:nvPr/>
        </p:nvSpPr>
        <p:spPr>
          <a:xfrm>
            <a:off x="1051560" y="2736000"/>
            <a:ext cx="32918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</a:rPr>
              <a:t>Real-World Use Cases</a:t>
            </a:r>
            <a:endParaRPr lang="en-US" sz="1100" dirty="0"/>
          </a:p>
        </p:txBody>
      </p:sp>
      <p:sp>
        <p:nvSpPr>
          <p:cNvPr id="128" name="Sub 6"/>
          <p:cNvSpPr/>
          <p:nvPr/>
        </p:nvSpPr>
        <p:spPr>
          <a:xfrm>
            <a:off x="1051560" y="2988180"/>
            <a:ext cx="329184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</a:rPr>
              <a:t>Business, engineering, education &amp; more</a:t>
            </a:r>
            <a:endParaRPr lang="en-US" sz="900" dirty="0"/>
          </a:p>
        </p:txBody>
      </p:sp>
      <p:sp>
        <p:nvSpPr>
          <p:cNvPr id="129" name="Shape 7"/>
          <p:cNvSpPr/>
          <p:nvPr/>
        </p:nvSpPr>
        <p:spPr>
          <a:xfrm>
            <a:off x="4617720" y="2655000"/>
            <a:ext cx="4114800" cy="540000"/>
          </a:xfrm>
          <a:prstGeom prst="rect">
            <a:avLst/>
          </a:prstGeom>
          <a:solidFill>
            <a:srgbClr val="1E2130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Num 7"/>
          <p:cNvSpPr/>
          <p:nvPr/>
        </p:nvSpPr>
        <p:spPr>
          <a:xfrm>
            <a:off x="4754880" y="2736000"/>
            <a:ext cx="5029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</a:rPr>
              <a:t>08</a:t>
            </a:r>
            <a:endParaRPr lang="en-US" sz="1400" dirty="0"/>
          </a:p>
        </p:txBody>
      </p:sp>
      <p:sp>
        <p:nvSpPr>
          <p:cNvPr id="131" name="Title 7"/>
          <p:cNvSpPr/>
          <p:nvPr/>
        </p:nvSpPr>
        <p:spPr>
          <a:xfrm>
            <a:off x="5303520" y="2736000"/>
            <a:ext cx="32918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</a:rPr>
              <a:t>Limits &amp; What to Know</a:t>
            </a:r>
            <a:endParaRPr lang="en-US" sz="1100" dirty="0"/>
          </a:p>
        </p:txBody>
      </p:sp>
      <p:sp>
        <p:nvSpPr>
          <p:cNvPr id="132" name="Sub 7"/>
          <p:cNvSpPr/>
          <p:nvPr/>
        </p:nvSpPr>
        <p:spPr>
          <a:xfrm>
            <a:off x="5303520" y="2988180"/>
            <a:ext cx="329184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</a:rPr>
              <a:t>What Claude won't do &amp; key limitations</a:t>
            </a:r>
            <a:endParaRPr lang="en-US" sz="900" dirty="0"/>
          </a:p>
        </p:txBody>
      </p:sp>
      <p:sp>
        <p:nvSpPr>
          <p:cNvPr id="133" name="Shape 8"/>
          <p:cNvSpPr/>
          <p:nvPr/>
        </p:nvSpPr>
        <p:spPr>
          <a:xfrm>
            <a:off x="365760" y="3240000"/>
            <a:ext cx="4114800" cy="540000"/>
          </a:xfrm>
          <a:prstGeom prst="rect">
            <a:avLst/>
          </a:prstGeom>
          <a:solidFill>
            <a:srgbClr val="1E2130"/>
          </a:solidFill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Num 8"/>
          <p:cNvSpPr/>
          <p:nvPr/>
        </p:nvSpPr>
        <p:spPr>
          <a:xfrm>
            <a:off x="502920" y="3321000"/>
            <a:ext cx="5029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</a:rPr>
              <a:t>09</a:t>
            </a:r>
            <a:endParaRPr lang="en-US" sz="1400" dirty="0"/>
          </a:p>
        </p:txBody>
      </p:sp>
      <p:sp>
        <p:nvSpPr>
          <p:cNvPr id="135" name="Title 8"/>
          <p:cNvSpPr/>
          <p:nvPr/>
        </p:nvSpPr>
        <p:spPr>
          <a:xfrm>
            <a:off x="1051560" y="3321000"/>
            <a:ext cx="32918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</a:rPr>
              <a:t>Ways to Use Claude — Modes</a:t>
            </a:r>
            <a:endParaRPr lang="en-US" sz="1100" dirty="0"/>
          </a:p>
        </p:txBody>
      </p:sp>
      <p:sp>
        <p:nvSpPr>
          <p:cNvPr id="136" name="Sub 8"/>
          <p:cNvSpPr/>
          <p:nvPr/>
        </p:nvSpPr>
        <p:spPr>
          <a:xfrm>
            <a:off x="1051560" y="3573180"/>
            <a:ext cx="329184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</a:rPr>
              <a:t>Chat, Cowork &amp; Code explained</a:t>
            </a:r>
            <a:endParaRPr lang="en-US" sz="900" dirty="0"/>
          </a:p>
        </p:txBody>
      </p:sp>
      <p:sp>
        <p:nvSpPr>
          <p:cNvPr id="137" name="Shape 9"/>
          <p:cNvSpPr/>
          <p:nvPr/>
        </p:nvSpPr>
        <p:spPr>
          <a:xfrm>
            <a:off x="4617720" y="3240000"/>
            <a:ext cx="4114800" cy="540000"/>
          </a:xfrm>
          <a:prstGeom prst="rect">
            <a:avLst/>
          </a:prstGeom>
          <a:solidFill>
            <a:srgbClr val="1E2130"/>
          </a:solidFill>
          <a:ln w="9525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Num 9"/>
          <p:cNvSpPr/>
          <p:nvPr/>
        </p:nvSpPr>
        <p:spPr>
          <a:xfrm>
            <a:off x="4754880" y="3321000"/>
            <a:ext cx="5029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0A5FA"/>
                </a:solidFill>
                <a:latin typeface="Arial" pitchFamily="34" charset="0"/>
              </a:rPr>
              <a:t>10</a:t>
            </a:r>
            <a:endParaRPr lang="en-US" sz="1400" dirty="0"/>
          </a:p>
        </p:txBody>
      </p:sp>
      <p:sp>
        <p:nvSpPr>
          <p:cNvPr id="139" name="Title 9"/>
          <p:cNvSpPr/>
          <p:nvPr/>
        </p:nvSpPr>
        <p:spPr>
          <a:xfrm>
            <a:off x="5303520" y="3321000"/>
            <a:ext cx="32918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</a:rPr>
              <a:t>Apps &amp; Integrations</a:t>
            </a:r>
            <a:endParaRPr lang="en-US" sz="1100" dirty="0"/>
          </a:p>
        </p:txBody>
      </p:sp>
      <p:sp>
        <p:nvSpPr>
          <p:cNvPr id="140" name="Sub 9"/>
          <p:cNvSpPr/>
          <p:nvPr/>
        </p:nvSpPr>
        <p:spPr>
          <a:xfrm>
            <a:off x="5303520" y="3573180"/>
            <a:ext cx="329184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</a:rPr>
              <a:t>Desktop, API, Chrome &amp; more</a:t>
            </a:r>
            <a:endParaRPr lang="en-US" sz="900" dirty="0"/>
          </a:p>
        </p:txBody>
      </p:sp>
      <p:sp>
        <p:nvSpPr>
          <p:cNvPr id="141" name="Shape 10"/>
          <p:cNvSpPr/>
          <p:nvPr/>
        </p:nvSpPr>
        <p:spPr>
          <a:xfrm>
            <a:off x="365760" y="3825000"/>
            <a:ext cx="4114800" cy="540000"/>
          </a:xfrm>
          <a:prstGeom prst="rect">
            <a:avLst/>
          </a:prstGeom>
          <a:solidFill>
            <a:srgbClr val="1E2130"/>
          </a:solidFill>
          <a:ln w="9525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Num 10"/>
          <p:cNvSpPr/>
          <p:nvPr/>
        </p:nvSpPr>
        <p:spPr>
          <a:xfrm>
            <a:off x="502920" y="3906000"/>
            <a:ext cx="5029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</a:rPr>
              <a:t>11</a:t>
            </a:r>
            <a:endParaRPr lang="en-US" sz="1400" dirty="0"/>
          </a:p>
        </p:txBody>
      </p:sp>
      <p:sp>
        <p:nvSpPr>
          <p:cNvPr id="143" name="Title 10"/>
          <p:cNvSpPr/>
          <p:nvPr/>
        </p:nvSpPr>
        <p:spPr>
          <a:xfrm>
            <a:off x="1051560" y="3906000"/>
            <a:ext cx="32918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</a:rPr>
              <a:t>Chat vs Cowork vs Code (1)</a:t>
            </a:r>
            <a:endParaRPr lang="en-US" sz="1100" dirty="0"/>
          </a:p>
        </p:txBody>
      </p:sp>
      <p:sp>
        <p:nvSpPr>
          <p:cNvPr id="144" name="Sub 10"/>
          <p:cNvSpPr/>
          <p:nvPr/>
        </p:nvSpPr>
        <p:spPr>
          <a:xfrm>
            <a:off x="1051560" y="4158180"/>
            <a:ext cx="329184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</a:rPr>
              <a:t>Everyday tasks &amp; file work compared</a:t>
            </a:r>
            <a:endParaRPr lang="en-US" sz="900" dirty="0"/>
          </a:p>
        </p:txBody>
      </p:sp>
      <p:sp>
        <p:nvSpPr>
          <p:cNvPr id="145" name="Shape 11"/>
          <p:cNvSpPr/>
          <p:nvPr/>
        </p:nvSpPr>
        <p:spPr>
          <a:xfrm>
            <a:off x="4617720" y="3825000"/>
            <a:ext cx="4114800" cy="540000"/>
          </a:xfrm>
          <a:prstGeom prst="rect">
            <a:avLst/>
          </a:prstGeom>
          <a:solidFill>
            <a:srgbClr val="1E2130"/>
          </a:solidFill>
          <a:ln w="9525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Num 11"/>
          <p:cNvSpPr/>
          <p:nvPr/>
        </p:nvSpPr>
        <p:spPr>
          <a:xfrm>
            <a:off x="4754880" y="3906000"/>
            <a:ext cx="5029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</a:rPr>
              <a:t>12</a:t>
            </a:r>
            <a:endParaRPr lang="en-US" sz="1400" dirty="0"/>
          </a:p>
        </p:txBody>
      </p:sp>
      <p:sp>
        <p:nvSpPr>
          <p:cNvPr id="147" name="Title 11"/>
          <p:cNvSpPr/>
          <p:nvPr/>
        </p:nvSpPr>
        <p:spPr>
          <a:xfrm>
            <a:off x="5303520" y="3906000"/>
            <a:ext cx="32918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</a:rPr>
              <a:t>Chat vs Cowork vs Code (2)</a:t>
            </a:r>
            <a:endParaRPr lang="en-US" sz="1100" dirty="0"/>
          </a:p>
        </p:txBody>
      </p:sp>
      <p:sp>
        <p:nvSpPr>
          <p:cNvPr id="148" name="Sub 11"/>
          <p:cNvSpPr/>
          <p:nvPr/>
        </p:nvSpPr>
        <p:spPr>
          <a:xfrm>
            <a:off x="5303520" y="4158180"/>
            <a:ext cx="329184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</a:rPr>
              <a:t>Developer work &amp; which mode to pick</a:t>
            </a:r>
            <a:endParaRPr lang="en-US" sz="900" dirty="0"/>
          </a:p>
        </p:txBody>
      </p:sp>
      <p:sp>
        <p:nvSpPr>
          <p:cNvPr id="149" name="Shape 12"/>
          <p:cNvSpPr/>
          <p:nvPr/>
        </p:nvSpPr>
        <p:spPr>
          <a:xfrm>
            <a:off x="365760" y="4410000"/>
            <a:ext cx="4114800" cy="540000"/>
          </a:xfrm>
          <a:prstGeom prst="rect">
            <a:avLst/>
          </a:prstGeom>
          <a:solidFill>
            <a:srgbClr val="1E2130"/>
          </a:solidFill>
          <a:ln w="9525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Num 12"/>
          <p:cNvSpPr/>
          <p:nvPr/>
        </p:nvSpPr>
        <p:spPr>
          <a:xfrm>
            <a:off x="502920" y="4491000"/>
            <a:ext cx="5029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Arial" pitchFamily="34" charset="0"/>
              </a:rPr>
              <a:t>13</a:t>
            </a:r>
            <a:endParaRPr lang="en-US" sz="1400" dirty="0"/>
          </a:p>
        </p:txBody>
      </p:sp>
      <p:sp>
        <p:nvSpPr>
          <p:cNvPr id="151" name="Title 12"/>
          <p:cNvSpPr/>
          <p:nvPr/>
        </p:nvSpPr>
        <p:spPr>
          <a:xfrm>
            <a:off x="1051560" y="4491000"/>
            <a:ext cx="32918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</a:rPr>
              <a:t>Shared Features</a:t>
            </a:r>
            <a:endParaRPr lang="en-US" sz="1100" dirty="0"/>
          </a:p>
        </p:txBody>
      </p:sp>
      <p:sp>
        <p:nvSpPr>
          <p:cNvPr id="152" name="Sub 12"/>
          <p:cNvSpPr/>
          <p:nvPr/>
        </p:nvSpPr>
        <p:spPr>
          <a:xfrm>
            <a:off x="1051560" y="4743180"/>
            <a:ext cx="329184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</a:rPr>
              <a:t>Files, memory, projects &amp; connectors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What is Claude?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663440" cy="3931920"/>
          </a:xfrm>
          <a:prstGeom prst="rect">
            <a:avLst/>
          </a:prstGeom>
          <a:solidFill>
            <a:srgbClr val="1E21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43891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is an AI assistant built by Anthropic — a safety-focused AI research company founded in 2021 by former OpenAI researchers.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a search engine, Claude holds extended conversations, reasons through complex problems, writes code, analyzes documents, and produces creative content.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is built to be: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Helpful — tackles hard tasks clearly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Harmless — avoids harmful outputs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Honest — acknowledges uncertainty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257800" y="9601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Facts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257800" y="1444752"/>
            <a:ext cx="3474720" cy="713232"/>
          </a:xfrm>
          <a:prstGeom prst="rect">
            <a:avLst/>
          </a:prstGeom>
          <a:solidFill>
            <a:srgbClr val="1A1F2E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94960" y="14996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94960" y="1773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· ex-OpenAI researchers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57800" y="2286000"/>
            <a:ext cx="3474720" cy="713232"/>
          </a:xfrm>
          <a:prstGeom prst="rect">
            <a:avLst/>
          </a:prstGeom>
          <a:solidFill>
            <a:srgbClr val="1A1F2E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94960" y="234086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94960" y="26151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&amp; beneficial AI for humanity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57800" y="3127248"/>
            <a:ext cx="3474720" cy="713232"/>
          </a:xfrm>
          <a:prstGeom prst="rect">
            <a:avLst/>
          </a:prstGeom>
          <a:solidFill>
            <a:srgbClr val="1A1F2E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94960" y="31821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RANGE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94960" y="3456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 · Sonnet · Opus · Fable 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257800" y="3968496"/>
            <a:ext cx="3474720" cy="713232"/>
          </a:xfrm>
          <a:prstGeom prst="rect">
            <a:avLst/>
          </a:prstGeom>
          <a:solidFill>
            <a:srgbClr val="1A1F2E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94960" y="40233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94960" y="4297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claude.ai · API · Enterprise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How Claude Thinks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is a Large Language Model (LLM) — a neural network trained on vast text to predict and generate language.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347472" y="1572768"/>
            <a:ext cx="1965960" cy="3246120"/>
          </a:xfrm>
          <a:prstGeom prst="rect">
            <a:avLst/>
          </a:prstGeom>
          <a:solidFill>
            <a:srgbClr val="1E2130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166420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38912" y="23042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38912" y="278892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trillions of tokens: internet, books, and code.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31720" y="3108960"/>
            <a:ext cx="146304" cy="64008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96312" y="1572768"/>
            <a:ext cx="1965960" cy="3246120"/>
          </a:xfrm>
          <a:prstGeom prst="rect">
            <a:avLst/>
          </a:prstGeom>
          <a:solidFill>
            <a:srgbClr val="1E2130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96312" y="166420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87752" y="23042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RLHF / RLAIF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587752" y="278892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Reinforcement Learning from Human &amp; AI Feedback aligns outputs with human values.</a:t>
            </a:r>
          </a:p>
          <a:p>
            <a:pPr marL="0" indent="0">
              <a:buNone/>
            </a:pPr>
            <a:endParaRPr lang="en-US" sz="1100" dirty="0">
              <a:solidFill>
                <a:srgbClr val="E2E8F0"/>
              </a:solidFill>
              <a:latin typeface="Arial" pitchFamily="34" charset="0"/>
              <a:cs typeface="Arial" pitchFamily="34" charset="-120"/>
            </a:endParaRPr>
          </a:p>
          <a:p>
            <a:pPr fontAlgn="t">
              <a:lnSpc>
                <a:spcPts val="1500"/>
              </a:lnSpc>
              <a:buNone/>
            </a:pPr>
            <a:r>
              <a:rPr lang="en-US" sz="800" b="1" dirty="0">
                <a:solidFill>
                  <a:schemeClr val="bg1"/>
                </a:solidFill>
                <a:latin typeface="Segoe UI" panose="020B0502040204020203" pitchFamily="34" charset="0"/>
              </a:rPr>
              <a:t>Reinforcement Learning (RL)</a:t>
            </a:r>
            <a:r>
              <a:rPr lang="en-US" sz="800" dirty="0">
                <a:solidFill>
                  <a:schemeClr val="bg1"/>
                </a:solidFill>
                <a:latin typeface="Segoe UI" panose="020B0502040204020203" pitchFamily="34" charset="0"/>
              </a:rPr>
              <a:t> is a machine learning approach where a model learns the best actions to take through trial and error by receiving rewards or penalties</a:t>
            </a: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3108960"/>
            <a:ext cx="146304" cy="64008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45152" y="1572768"/>
            <a:ext cx="1965960" cy="3246120"/>
          </a:xfrm>
          <a:prstGeom prst="rect">
            <a:avLst/>
          </a:prstGeom>
          <a:solidFill>
            <a:srgbClr val="1E2130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45152" y="166420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736592" y="23042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Constitutional AI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36592" y="278892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Anthropic's method: Claude critiques its own outputs against written principles.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29400" y="3108960"/>
            <a:ext cx="146304" cy="64008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793992" y="1572768"/>
            <a:ext cx="1965960" cy="3246120"/>
          </a:xfrm>
          <a:prstGeom prst="rect">
            <a:avLst/>
          </a:prstGeom>
          <a:solidFill>
            <a:srgbClr val="1E2130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93992" y="166420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885432" y="23042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885432" y="278892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runtime Claude predicts the best next token, building responses word by word.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Core Capabilities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92608" y="987552"/>
            <a:ext cx="2788920" cy="1874520"/>
          </a:xfrm>
          <a:prstGeom prst="rect">
            <a:avLst/>
          </a:prstGeom>
          <a:solidFill>
            <a:srgbClr val="1E2130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0624" y="1078992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  Writing &amp; Editing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20624" y="1517904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Drafts essays, emails, reports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20624" y="1865376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Edits for tone and clarity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0624" y="2212848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Adapts to any writing style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18688" y="987552"/>
            <a:ext cx="2788920" cy="1874520"/>
          </a:xfrm>
          <a:prstGeom prst="rect">
            <a:avLst/>
          </a:prstGeom>
          <a:solidFill>
            <a:srgbClr val="1E2130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46704" y="1078992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 Coding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46704" y="1517904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Python, JS, SQL, Go &amp; more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46704" y="1865376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Debugs and explains code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46704" y="2212848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Reviews pull requests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44768" y="987552"/>
            <a:ext cx="2788920" cy="1874520"/>
          </a:xfrm>
          <a:prstGeom prst="rect">
            <a:avLst/>
          </a:prstGeom>
          <a:solidFill>
            <a:srgbClr val="1E2130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72784" y="1078992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Research &amp; Analysis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72784" y="1517904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Summarizes long documents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72784" y="1865376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Compares data and arguments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72784" y="2212848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Extracts insights from PDFs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92608" y="2999232"/>
            <a:ext cx="2788920" cy="1874520"/>
          </a:xfrm>
          <a:prstGeom prst="rect">
            <a:avLst/>
          </a:prstGeom>
          <a:solidFill>
            <a:srgbClr val="1E2130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0624" y="3090672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 Reasoning &amp; Math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0624" y="3529584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Solves multi-step problems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20624" y="3877056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Breaks down complex logic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0624" y="4224528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Shows step-by-step reasoning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18688" y="2999232"/>
            <a:ext cx="2788920" cy="1874520"/>
          </a:xfrm>
          <a:prstGeom prst="rect">
            <a:avLst/>
          </a:prstGeom>
          <a:solidFill>
            <a:srgbClr val="1E2130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46704" y="3090672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 Creative Tasks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46704" y="3529584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Brainstorms ideas &amp; concepts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46704" y="3877056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Writes fiction, poetry, scripts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46704" y="4224528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Generates names and copy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44768" y="2999232"/>
            <a:ext cx="2788920" cy="1874520"/>
          </a:xfrm>
          <a:prstGeom prst="rect">
            <a:avLst/>
          </a:prstGeom>
          <a:solidFill>
            <a:srgbClr val="1E2130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72784" y="3090672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Conversation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72784" y="3529584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Holds context over long chats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72784" y="3877056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Answers follow-up questions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72784" y="4224528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Role-plays scenarios safely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Safety &amp; Values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749808"/>
          </a:xfrm>
          <a:prstGeom prst="rect">
            <a:avLst/>
          </a:prstGeom>
          <a:solidFill>
            <a:srgbClr val="1A0A2E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"Claude is designed to be helpful, harmless, and honest — the three pillars of Anthropic's alignment philosophy."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65760" y="1901952"/>
            <a:ext cx="8412480" cy="841248"/>
          </a:xfrm>
          <a:prstGeom prst="rect">
            <a:avLst/>
          </a:prstGeom>
          <a:solidFill>
            <a:srgbClr val="1E21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97510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Constitutional AI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54680" y="1975104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is trained using a written set of principles. During training it critiques its own outputs against these principles — reducing reliance on human labeling for every edge case.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862072"/>
            <a:ext cx="8412480" cy="841248"/>
          </a:xfrm>
          <a:prstGeom prst="rect">
            <a:avLst/>
          </a:prstGeom>
          <a:solidFill>
            <a:srgbClr val="1E21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9352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  Hard Limits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54680" y="2935224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refuses to help with weapons of mass destruction, CSAM, serious violence, or other bright-line harms — regardless of how a request is framed.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3822192"/>
            <a:ext cx="8412480" cy="841248"/>
          </a:xfrm>
          <a:prstGeom prst="rect">
            <a:avLst/>
          </a:prstGeom>
          <a:solidFill>
            <a:srgbClr val="1E21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89534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 Honest &amp; Calibrated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54680" y="3895344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acknowledges uncertainty, says 'I don't know' when unsure, and avoids stating things it isn't confident about. It will not deceive or manipulate.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Claude Model Tiers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models — pick the right one for your task and budget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01168" y="1078992"/>
            <a:ext cx="2084832" cy="3749040"/>
          </a:xfrm>
          <a:prstGeom prst="rect">
            <a:avLst/>
          </a:prstGeom>
          <a:solidFill>
            <a:srgbClr val="1E2130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1168" y="1078992"/>
            <a:ext cx="2084832" cy="54864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" y="111556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84248" y="1115568"/>
            <a:ext cx="256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" y="170078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&amp; Lightweight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20116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Spd: ████████████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4320" y="224942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Qlty:███░░░░░░░░░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92608" y="25420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2608" y="28072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Quick Q&amp;A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2608" y="30632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Classification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92608" y="33192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Simple summaries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2608" y="357530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High-volume tasks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" y="4608576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claude-haiku-4-5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414016" y="1078992"/>
            <a:ext cx="2084832" cy="3749040"/>
          </a:xfrm>
          <a:prstGeom prst="rect">
            <a:avLst/>
          </a:prstGeom>
          <a:solidFill>
            <a:srgbClr val="1E2130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414016" y="1078992"/>
            <a:ext cx="2084832" cy="54864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05456" y="111556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97096" y="1115568"/>
            <a:ext cx="256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$$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05456" y="170078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Performance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87168" y="20116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Spd: ████████░░░░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487168" y="224942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Qlty:███████░░░░░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505456" y="25420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05456" y="28072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Writing &amp; editing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505456" y="30632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Code generation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505456" y="33192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Document analysis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505456" y="357530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Everyday tasks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487168" y="4608576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claude-sonnet-5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626864" y="1078992"/>
            <a:ext cx="2084832" cy="3749040"/>
          </a:xfrm>
          <a:prstGeom prst="rect">
            <a:avLst/>
          </a:prstGeom>
          <a:solidFill>
            <a:srgbClr val="1E2130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26864" y="1078992"/>
            <a:ext cx="2084832" cy="54864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18304" y="111556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9944" y="1115568"/>
            <a:ext cx="256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$$$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18304" y="170078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&amp; Agentic Work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00016" y="20116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Spd: ████░░░░░░░░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00016" y="224942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Qlty:█████████░░░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18304" y="25420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18304" y="28072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Complex reasoning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18304" y="30632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Enterprise coding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18304" y="33192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Research synthesis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718304" y="357530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Agent tasks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00016" y="4608576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claude-opus-4-8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839712" y="1078992"/>
            <a:ext cx="2084832" cy="3749040"/>
          </a:xfrm>
          <a:prstGeom prst="rect">
            <a:avLst/>
          </a:prstGeom>
          <a:solidFill>
            <a:srgbClr val="1E2130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839712" y="1078992"/>
            <a:ext cx="2084832" cy="54864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931152" y="111556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Fable 5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622792" y="1115568"/>
            <a:ext cx="256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$$$$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931152" y="170078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Intelligence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912864" y="20116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Spd: ███░░░░░░░░░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912864" y="224942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Qlty:████████████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931152" y="25420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931152" y="28072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Multi-day agentic runs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931152" y="30632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Advanced knowledge work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931152" y="33192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Long-horizon coding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931152" y="357530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Sub-agent orchestration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912864" y="4608576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claude-fable-5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How to Use Claude Effectively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1124712"/>
            <a:ext cx="457200" cy="457200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0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specific about your goal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4630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"Write an email"  →  ✅ "Write a professional follow-up to a client who hasn't replied in 2 weeks"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2130552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2103120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08483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context and constraints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46888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"Explain neural networks to a 10-year-old using only food analogies, under 150 words"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3136392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3108960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30906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step-by-step reasoning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47472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"Solve this and show your full working before giving the final answer"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4142232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4114800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409651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and refine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44805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"Good — now make it shorter and more casual. Add a concrete example."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Use Cases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92608" y="987552"/>
            <a:ext cx="2788920" cy="1874520"/>
          </a:xfrm>
          <a:prstGeom prst="rect">
            <a:avLst/>
          </a:prstGeom>
          <a:solidFill>
            <a:srgbClr val="1E2130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0624" y="1078992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Business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20624" y="149961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Draft proposals &amp; contracts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20624" y="181965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Summarize meeting notes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0624" y="213969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Customer support automation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20624" y="245973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Market research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18688" y="987552"/>
            <a:ext cx="2788920" cy="1874520"/>
          </a:xfrm>
          <a:prstGeom prst="rect">
            <a:avLst/>
          </a:prstGeom>
          <a:solidFill>
            <a:srgbClr val="1E2130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46704" y="1078992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👩‍💻 Engineering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46704" y="149961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Write &amp; review code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46704" y="181965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Generate unit tests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46704" y="213969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Explain error messages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46704" y="245973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Multi-day agentic coding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44768" y="987552"/>
            <a:ext cx="2788920" cy="1874520"/>
          </a:xfrm>
          <a:prstGeom prst="rect">
            <a:avLst/>
          </a:prstGeom>
          <a:solidFill>
            <a:srgbClr val="1E2130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72784" y="1078992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Education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72784" y="149961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Tutor on any subject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72784" y="181965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Explain complex concepts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72784" y="213969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Practice conversation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72784" y="245973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Generate quizzes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92608" y="2999232"/>
            <a:ext cx="2788920" cy="1874520"/>
          </a:xfrm>
          <a:prstGeom prst="rect">
            <a:avLst/>
          </a:prstGeom>
          <a:solidFill>
            <a:srgbClr val="1E2130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20624" y="3090672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Creative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0624" y="351129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Brainstorm campaign ideas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0624" y="383133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Write marketing copy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20624" y="415137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Script videos &amp; podcasts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20624" y="447141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Develop story worlds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18688" y="2999232"/>
            <a:ext cx="2788920" cy="1874520"/>
          </a:xfrm>
          <a:prstGeom prst="rect">
            <a:avLst/>
          </a:prstGeom>
          <a:solidFill>
            <a:srgbClr val="1E2130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46704" y="3090672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Research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46704" y="351129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Synthesize papers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346704" y="383133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Extract data from PDFs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346704" y="415137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Compare methodologies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346704" y="447141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Literature reviews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44768" y="2999232"/>
            <a:ext cx="2788920" cy="1874520"/>
          </a:xfrm>
          <a:prstGeom prst="rect">
            <a:avLst/>
          </a:prstGeom>
          <a:solidFill>
            <a:srgbClr val="1E2130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72784" y="3090672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Healthcare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72784" y="351129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Explain medical terms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272784" y="383133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Draft patient materials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72784" y="415137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Clinical documentation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272784" y="447141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Research summaries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 — What Claude Won't Do &amp; What to Know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069080" cy="3931920"/>
          </a:xfrm>
          <a:prstGeom prst="rect">
            <a:avLst/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  Claude Won't...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Help create weapons of mass destruction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Generate CSAM or sexual content involving minors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Assist with plans for serious violence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Impersonate real people deceptively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Pretend to be human when sincerely asked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7947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State things it is not confident about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42519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Help with clearly illegal activities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09160" y="960120"/>
            <a:ext cx="4069080" cy="3931920"/>
          </a:xfrm>
          <a:prstGeom prst="rect">
            <a:avLst/>
          </a:prstGeom>
          <a:solidFill>
            <a:srgbClr val="0A1A0A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92040" y="10515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Limitations to Know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15087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ⓘ  Knowledge cutoff — not always up to date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92040" y="19659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ⓘ  Can hallucinate — always verify key facts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92040" y="24231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ⓘ  No persistent memory between sessions*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92040" y="28803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ⓘ  Cannot browse the web by default*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92040" y="33375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ⓘ  May misunderstand ambiguous prompts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92040" y="37947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ⓘ  Not a therapist, lawyer, or doctor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92040" y="42519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ⓘ  Context window limits on very long docs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Ways to Use Claude   —   Part 1: The Three Modes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Claude has three modes. Each mode works in the browser, the desktop app, and on mobile — same Claude, different type of work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37744" y="932688"/>
            <a:ext cx="2066544" cy="3730752"/>
          </a:xfrm>
          <a:prstGeom prst="rect">
            <a:avLst/>
          </a:prstGeom>
          <a:solidFill>
            <a:srgbClr val="1A1F2E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37744" y="932688"/>
            <a:ext cx="2066544" cy="402336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💬  Chat Mode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1408176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"Ask questions, get answers, write and think together"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1794558"/>
            <a:ext cx="1810512" cy="18288"/>
          </a:xfrm>
          <a:prstGeom prst="rect">
            <a:avLst/>
          </a:prstGeom>
          <a:solidFill>
            <a:srgbClr val="A855F7">
              <a:alpha val="4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" y="1959667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A855F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BEST FOR: Everyone — complete beginner's welcome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2288201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  Ask anything in plain English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760" y="2571665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  Upload files, images &amp; documents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65760" y="2855129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  Remembers your work across sessions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37744" y="4389120"/>
            <a:ext cx="2066544" cy="274320"/>
          </a:xfrm>
          <a:prstGeom prst="rect">
            <a:avLst/>
          </a:prstGeom>
          <a:solidFill>
            <a:srgbClr val="A855F7">
              <a:alpha val="18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5760" y="440740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Web: claude.ai · iPhone &amp; Android app · Desktop · Free to start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414016" y="932688"/>
            <a:ext cx="2066544" cy="3730752"/>
          </a:xfrm>
          <a:prstGeom prst="rect">
            <a:avLst/>
          </a:prstGeom>
          <a:solidFill>
            <a:srgbClr val="1A1F2E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414016" y="932688"/>
            <a:ext cx="2066544" cy="402336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542032" y="987552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🤝  Cowork Mode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542032" y="1408176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"Tell Claude the outcome you want — it does the work for you"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542032" y="1801043"/>
            <a:ext cx="1810512" cy="18288"/>
          </a:xfrm>
          <a:prstGeom prst="rect">
            <a:avLst/>
          </a:prstGeom>
          <a:solidFill>
            <a:srgbClr val="F97316">
              <a:alpha val="4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542032" y="1972638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9731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BEST FOR: Business users — no tech skills needed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542032" y="2359537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  Organise files, write reports, send emails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542032" y="2643001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  Runs tasks on a schedule, even overnight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542032" y="2926465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  Connects to Google Drive, Gmail &amp; more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414016" y="4389120"/>
            <a:ext cx="2066544" cy="274320"/>
          </a:xfrm>
          <a:prstGeom prst="rect">
            <a:avLst/>
          </a:prstGeom>
          <a:solidFill>
            <a:srgbClr val="F97316">
              <a:alpha val="18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542032" y="440740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Desktop app (full power) · Web &amp; mobile beta since July 2026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90288" y="932688"/>
            <a:ext cx="2066544" cy="3730752"/>
          </a:xfrm>
          <a:prstGeom prst="rect">
            <a:avLst/>
          </a:prstGeom>
          <a:solidFill>
            <a:srgbClr val="1A1F2E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590288" y="932688"/>
            <a:ext cx="2066544" cy="40233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718304" y="987552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⌨️  Code Mode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718304" y="1408176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"Claude reads your project and writes, fixes &amp; tests code for you"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718304" y="1807528"/>
            <a:ext cx="1810512" cy="18288"/>
          </a:xfrm>
          <a:prstGeom prst="rect">
            <a:avLst/>
          </a:prstGeom>
          <a:solidFill>
            <a:srgbClr val="2DD4BF">
              <a:alpha val="4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718304" y="1979122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2DD4B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BEST FOR: Software developers &amp; programmers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718304" y="2346566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  Reads your whole codebase at once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718304" y="263003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  Edits files, runs tests, saves to git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718304" y="291349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  Works in VS Code, terminal, or browser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590288" y="4389120"/>
            <a:ext cx="2066544" cy="274320"/>
          </a:xfrm>
          <a:prstGeom prst="rect">
            <a:avLst/>
          </a:prstGeom>
          <a:solidFill>
            <a:srgbClr val="2DD4BF">
              <a:alpha val="18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718304" y="440740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Desktop · Terminal (CLI) · VS Code · Web at claude.ai/code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766560" y="932688"/>
            <a:ext cx="2319074" cy="3730752"/>
          </a:xfrm>
          <a:prstGeom prst="rect">
            <a:avLst/>
          </a:prstGeom>
          <a:solidFill>
            <a:srgbClr val="141824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894576" y="1042416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Where each mode runs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894576" y="1389888"/>
            <a:ext cx="1810512" cy="18288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894576" y="14996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Surface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900416" y="149961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A855F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Chat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229600" y="149961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9731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Cowork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708589" y="149961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2DD4B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839712" y="1755648"/>
            <a:ext cx="1920240" cy="493776"/>
          </a:xfrm>
          <a:prstGeom prst="rect">
            <a:avLst/>
          </a:prstGeom>
          <a:solidFill>
            <a:srgbClr val="1E243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894576" y="1792224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Web (claude.ai)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918704" y="1792224"/>
            <a:ext cx="256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A855F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247888" y="1792224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1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beta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8668512" y="1792224"/>
            <a:ext cx="256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DD4B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894576" y="2322576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Desktop app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7918704" y="2322576"/>
            <a:ext cx="256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A855F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8247888" y="2322576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9731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8668512" y="2322576"/>
            <a:ext cx="256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DD4B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6839712" y="2816352"/>
            <a:ext cx="1920240" cy="493776"/>
          </a:xfrm>
          <a:prstGeom prst="rect">
            <a:avLst/>
          </a:prstGeom>
          <a:solidFill>
            <a:srgbClr val="1E243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894576" y="2852928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iPhone &amp; Android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7918704" y="2852928"/>
            <a:ext cx="256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A855F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8247888" y="2852928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1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beta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8668512" y="2852928"/>
            <a:ext cx="256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6894576" y="338328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Terminal (command line)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7918704" y="3383280"/>
            <a:ext cx="256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8247888" y="338328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8668512" y="3383280"/>
            <a:ext cx="256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DD4B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6839712" y="3877056"/>
            <a:ext cx="1920240" cy="493776"/>
          </a:xfrm>
          <a:prstGeom prst="rect">
            <a:avLst/>
          </a:prstGeom>
          <a:solidFill>
            <a:srgbClr val="1E243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6894576" y="391363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VS Code / JetBrains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7918704" y="3913632"/>
            <a:ext cx="256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8247888" y="3913632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8668512" y="3913632"/>
            <a:ext cx="256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DD4B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6894576" y="4407408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 = available · beta = rolling out · – = not available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237744" y="4736592"/>
            <a:ext cx="8668512" cy="256032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411480" y="4791456"/>
            <a:ext cx="100584" cy="100584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557784" y="47640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Chat — ask &amp; answer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2587752" y="4791456"/>
            <a:ext cx="100584" cy="100584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2734056" y="47640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Cowork — let Claude do it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4764024" y="4791456"/>
            <a:ext cx="100584" cy="10058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4910328" y="47640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Code — for developers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6940296" y="4791456"/>
            <a:ext cx="100584" cy="100584"/>
          </a:xfrm>
          <a:prstGeom prst="ellipse">
            <a:avLst/>
          </a:prstGeom>
          <a:solidFill>
            <a:srgbClr val="37415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7086600" y="47640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Where each mode runs →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Ways to Use Claude   —   Part 2: Apps &amp; Integrations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Beyond the main app — bring Claude into the tools you already use every day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37744" y="932688"/>
            <a:ext cx="2066544" cy="3730752"/>
          </a:xfrm>
          <a:prstGeom prst="rect">
            <a:avLst/>
          </a:prstGeom>
          <a:solidFill>
            <a:srgbClr val="1A1F2E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37744" y="932688"/>
            <a:ext cx="2066544" cy="402336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🖥️  Claude Desktop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1440601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"The most powerful version — Claude has full access to your computer"</a:t>
            </a:r>
          </a:p>
        </p:txBody>
      </p:sp>
      <p:sp>
        <p:nvSpPr>
          <p:cNvPr id="8" name="Shape 6"/>
          <p:cNvSpPr/>
          <p:nvPr/>
        </p:nvSpPr>
        <p:spPr>
          <a:xfrm>
            <a:off x="365760" y="1891833"/>
            <a:ext cx="1810512" cy="18288"/>
          </a:xfrm>
          <a:prstGeom prst="rect">
            <a:avLst/>
          </a:prstGeom>
          <a:solidFill>
            <a:srgbClr val="6366F1">
              <a:alpha val="4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" y="214773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6366F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BEST FOR: Anyone who wants the full Claude experience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2560575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  One app — Chat, Cowork &amp; Code all in one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760" y="2844039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  Reads &amp; edits files on your hard drive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65760" y="3127503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  Connect extra tools like GitHub or databases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37744" y="4389120"/>
            <a:ext cx="2066544" cy="274320"/>
          </a:xfrm>
          <a:prstGeom prst="rect">
            <a:avLst/>
          </a:prstGeom>
          <a:solidFill>
            <a:srgbClr val="6366F1">
              <a:alpha val="18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5760" y="440740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Mac &amp; Windows · Free download · claude.com/download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51236" y="932688"/>
            <a:ext cx="2066544" cy="3730752"/>
          </a:xfrm>
          <a:prstGeom prst="rect">
            <a:avLst/>
          </a:prstGeom>
          <a:solidFill>
            <a:srgbClr val="1A1F2E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51236" y="932688"/>
            <a:ext cx="2066544" cy="402336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879252" y="987552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🔑  Claude API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879252" y="1408176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"Build your own app or product powered by Claude"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879252" y="1872378"/>
            <a:ext cx="1810512" cy="18288"/>
          </a:xfrm>
          <a:prstGeom prst="rect">
            <a:avLst/>
          </a:prstGeom>
          <a:solidFill>
            <a:srgbClr val="E11D48">
              <a:alpha val="4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879252" y="2147737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11D4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BEST FOR: Developers who want to build with Claude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879252" y="2547606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  Your users see YOUR app — not claude.ai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879252" y="283107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  Works with Python, JavaScript &amp; many others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879252" y="311453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  Pay only for what you use — no monthly fee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757726" y="4389120"/>
            <a:ext cx="2066544" cy="274320"/>
          </a:xfrm>
          <a:prstGeom prst="rect">
            <a:avLst/>
          </a:prstGeom>
          <a:solidFill>
            <a:srgbClr val="E11D48">
              <a:alpha val="18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879252" y="440740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console.anthropic.com · Usage-based pricing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336075" y="932688"/>
            <a:ext cx="2066544" cy="3730752"/>
          </a:xfrm>
          <a:prstGeom prst="rect">
            <a:avLst/>
          </a:prstGeom>
          <a:solidFill>
            <a:srgbClr val="1A1F2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336075" y="932688"/>
            <a:ext cx="2066544" cy="40233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464091" y="987552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🌐  Claude in Chrome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464091" y="1408176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"Claude sits in your browser and helps with whatever you are looking at"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464091" y="1872378"/>
            <a:ext cx="1810512" cy="18288"/>
          </a:xfrm>
          <a:prstGeom prst="rect">
            <a:avLst/>
          </a:prstGeom>
          <a:solidFill>
            <a:srgbClr val="0EA5E9">
              <a:alpha val="4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464091" y="2173678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EA5E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BEST FOR: Anyone who does research or reads online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464091" y="258003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  Summarise any web page instantly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464091" y="2863496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  Fill in forms and navigate sites for you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464091" y="314696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  Works on Gmail, Google Docs &amp; more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323104" y="4389120"/>
            <a:ext cx="2066544" cy="274320"/>
          </a:xfrm>
          <a:prstGeom prst="rect">
            <a:avLst/>
          </a:prstGeom>
          <a:solidFill>
            <a:srgbClr val="0EA5E9">
              <a:alpha val="18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464091" y="440740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Chrome Extension · GA July 2026 · Free &amp; paid plans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237744" y="4645152"/>
            <a:ext cx="8668512" cy="73152"/>
          </a:xfrm>
          <a:prstGeom prst="rect">
            <a:avLst/>
          </a:prstGeom>
          <a:solidFill>
            <a:srgbClr val="374151">
              <a:alpha val="4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274320" y="46451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📊  Also available: Claude in Excel &amp; PowerPoint — chat with your spreadsheets and slides inside Microsoft 365  ·  Add-in available on paid Claude plans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237744" y="4736592"/>
            <a:ext cx="8668512" cy="256032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411480" y="4791456"/>
            <a:ext cx="100584" cy="100584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557784" y="47640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Desktop — full power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2788787" y="4791456"/>
            <a:ext cx="100584" cy="100584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2935091" y="47640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API — build products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5367139" y="4791456"/>
            <a:ext cx="100584" cy="100584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5513443" y="47640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Chrome — browser help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2024" y="82296"/>
            <a:ext cx="8867394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685800"/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vs Cowork vs Code — What You Can (and Cannot) Do</a:t>
            </a:r>
            <a:endParaRPr lang="en-US" sz="15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92024" y="397764"/>
            <a:ext cx="8867394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685800"/>
            <a:r>
              <a:rPr lang="en-US" sz="78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Claude brain — very different superpowers. Pick the right mode for each task.  ·  Part 1 of 2: Everyday tasks &amp; file work</a:t>
            </a:r>
            <a:endParaRPr lang="en-US" sz="78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92024" y="617220"/>
            <a:ext cx="1954530" cy="301752"/>
          </a:xfrm>
          <a:prstGeom prst="rect">
            <a:avLst/>
          </a:prstGeom>
          <a:solidFill>
            <a:srgbClr val="252D3D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288036" y="699516"/>
            <a:ext cx="181737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75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187702" y="617220"/>
            <a:ext cx="2263140" cy="301752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2283714" y="685800"/>
            <a:ext cx="21259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Chat Mode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491990" y="617220"/>
            <a:ext cx="2263140" cy="30175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88002" y="685800"/>
            <a:ext cx="21259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 Cowork Mode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796278" y="617220"/>
            <a:ext cx="2263140" cy="3017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92290" y="685800"/>
            <a:ext cx="21259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⌨️  Code Mode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92024" y="918972"/>
            <a:ext cx="1954530" cy="192024"/>
          </a:xfrm>
          <a:prstGeom prst="rect">
            <a:avLst/>
          </a:prstGeom>
          <a:solidFill>
            <a:srgbClr val="1E2535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187702" y="918972"/>
            <a:ext cx="2263140" cy="192024"/>
          </a:xfrm>
          <a:prstGeom prst="rect">
            <a:avLst/>
          </a:prstGeom>
          <a:solidFill>
            <a:srgbClr val="A855F7">
              <a:alpha val="15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283714" y="953262"/>
            <a:ext cx="21259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do it?   Note</a:t>
            </a:r>
            <a:endParaRPr lang="en-US" sz="5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491990" y="918972"/>
            <a:ext cx="2263140" cy="192024"/>
          </a:xfrm>
          <a:prstGeom prst="rect">
            <a:avLst/>
          </a:prstGeom>
          <a:solidFill>
            <a:srgbClr val="F97316">
              <a:alpha val="15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88002" y="953262"/>
            <a:ext cx="21259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do it?   Note</a:t>
            </a:r>
            <a:endParaRPr lang="en-US" sz="5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796278" y="918972"/>
            <a:ext cx="2263140" cy="192024"/>
          </a:xfrm>
          <a:prstGeom prst="rect">
            <a:avLst/>
          </a:prstGeom>
          <a:solidFill>
            <a:srgbClr val="2DD4BF">
              <a:alpha val="15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92290" y="953262"/>
            <a:ext cx="21259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do it?   Note</a:t>
            </a:r>
            <a:endParaRPr lang="en-US" sz="5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92024" y="1110996"/>
            <a:ext cx="8867394" cy="205740"/>
          </a:xfrm>
          <a:prstGeom prst="rect">
            <a:avLst/>
          </a:prstGeom>
          <a:solidFill>
            <a:srgbClr val="2D1B4E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88036" y="1145286"/>
            <a:ext cx="873023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 — EVERYDAY TASKS: WRITING, THINKING &amp; RESEARCH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92024" y="1316736"/>
            <a:ext cx="8867394" cy="270891"/>
          </a:xfrm>
          <a:prstGeom prst="rect">
            <a:avLst/>
          </a:prstGeom>
          <a:solidFill>
            <a:srgbClr val="161D2B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88036" y="1357884"/>
            <a:ext cx="1817370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71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an email, essay, report or story</a:t>
            </a:r>
            <a:endParaRPr lang="en-US" sz="7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256282" y="1357884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475738" y="1371600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option — instant, no setup needed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60570" y="1357884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780026" y="1371600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do it AND save the file to your disk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864858" y="1357884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084314" y="1371600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do it AND save to your code project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88036" y="1628775"/>
            <a:ext cx="1817370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71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 question or get something explained</a:t>
            </a:r>
            <a:endParaRPr lang="en-US" sz="7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256282" y="1628775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475738" y="1642491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choice — fast &amp; conversational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560570" y="1628775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780026" y="1642491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Works, but is overkill for a simple question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864858" y="1628775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084314" y="1642491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Works, but is overkill for a simple question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92024" y="1858518"/>
            <a:ext cx="8867394" cy="270891"/>
          </a:xfrm>
          <a:prstGeom prst="rect">
            <a:avLst/>
          </a:prstGeom>
          <a:solidFill>
            <a:srgbClr val="161D2B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88036" y="1899666"/>
            <a:ext cx="1817370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71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Summarise a document you paste in</a:t>
            </a:r>
            <a:endParaRPr lang="en-US" sz="7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2256282" y="1899666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2475738" y="1913382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up to 30 MB — instant summary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560570" y="1899666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780026" y="1913382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also open the file directly from your disk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864858" y="1899666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084314" y="1913382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fine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288036" y="2170557"/>
            <a:ext cx="1817370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71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the web for current information</a:t>
            </a:r>
            <a:endParaRPr lang="en-US" sz="7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2256282" y="2170557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2475738" y="2184273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the web search button in chat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4560570" y="2170557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4780026" y="2184273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search available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864858" y="2170557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7084314" y="2184273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search available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192024" y="2400300"/>
            <a:ext cx="8867394" cy="270891"/>
          </a:xfrm>
          <a:prstGeom prst="rect">
            <a:avLst/>
          </a:prstGeom>
          <a:solidFill>
            <a:srgbClr val="161D2B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288036" y="2441448"/>
            <a:ext cx="1817370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71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 ideas, plans or strategies</a:t>
            </a:r>
            <a:endParaRPr lang="en-US" sz="7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2256282" y="2441448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2475738" y="2455164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— back-and-forth conversation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4560570" y="2441448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4780026" y="2455164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Works, but chat is faster for this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6864858" y="2441448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7084314" y="2455164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Works, but chat is faster for this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192024" y="2671191"/>
            <a:ext cx="8867394" cy="205740"/>
          </a:xfrm>
          <a:prstGeom prst="rect">
            <a:avLst/>
          </a:prstGeom>
          <a:solidFill>
            <a:srgbClr val="3D1F0A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288036" y="2705481"/>
            <a:ext cx="873023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— FILES &amp; REAL WORK: THIS IS WHERE THE BIG DIFFERENCES ARE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192024" y="2876931"/>
            <a:ext cx="8867394" cy="270891"/>
          </a:xfrm>
          <a:prstGeom prst="rect">
            <a:avLst/>
          </a:prstGeom>
          <a:solidFill>
            <a:srgbClr val="161D2B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288036" y="2918079"/>
            <a:ext cx="1817370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71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and read files on your hard drive</a:t>
            </a:r>
            <a:endParaRPr lang="en-US" sz="7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2256282" y="2918079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2475738" y="2931795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text in manually — cannot touch your disk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4560570" y="2918079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4780026" y="2931795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any file type directly from your folders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6864858" y="2918079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7084314" y="2931795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code files from your project folder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288036" y="3188970"/>
            <a:ext cx="1817370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71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a finished file (Word, Excel, PDF) to your computer</a:t>
            </a:r>
            <a:endParaRPr lang="en-US" sz="7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2256282" y="3188970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2475738" y="3202686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copy-paste the output yourself — Claude cannot save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4560570" y="3188970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4780026" y="3202686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Drops the finished file directly into your chosen folder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6864858" y="3188970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7084314" y="3202686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 code files directly into your project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192024" y="3418713"/>
            <a:ext cx="8867394" cy="270891"/>
          </a:xfrm>
          <a:prstGeom prst="rect">
            <a:avLst/>
          </a:prstGeom>
          <a:solidFill>
            <a:srgbClr val="161D2B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288036" y="3459861"/>
            <a:ext cx="1817370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71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or analyse 20+ files at once</a:t>
            </a:r>
            <a:endParaRPr lang="en-US" sz="7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2256282" y="3459861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2475738" y="3473577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limit of 20 file uploads per conversation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4560570" y="3459861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4780026" y="3473577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limit — can batch process entire folders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6864858" y="3459861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7084314" y="3473577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entire codebase at once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288036" y="3730752"/>
            <a:ext cx="1817370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71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Organise, rename and sort folders on your computer</a:t>
            </a:r>
            <a:endParaRPr lang="en-US" sz="7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2256282" y="3730752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6" name="Text 84"/>
          <p:cNvSpPr/>
          <p:nvPr/>
        </p:nvSpPr>
        <p:spPr>
          <a:xfrm>
            <a:off x="2475738" y="3744468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only describe how — cannot act on your files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7" name="Text 85"/>
          <p:cNvSpPr/>
          <p:nvPr/>
        </p:nvSpPr>
        <p:spPr>
          <a:xfrm>
            <a:off x="4560570" y="3730752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8" name="Text 86"/>
          <p:cNvSpPr/>
          <p:nvPr/>
        </p:nvSpPr>
        <p:spPr>
          <a:xfrm>
            <a:off x="4780026" y="3744468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does it on your real file system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9" name="Text 87"/>
          <p:cNvSpPr/>
          <p:nvPr/>
        </p:nvSpPr>
        <p:spPr>
          <a:xfrm>
            <a:off x="6864858" y="3730752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0" name="Text 88"/>
          <p:cNvSpPr/>
          <p:nvPr/>
        </p:nvSpPr>
        <p:spPr>
          <a:xfrm>
            <a:off x="7084314" y="3744468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designed for this — use Cowork instead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192024" y="3960495"/>
            <a:ext cx="8867394" cy="270891"/>
          </a:xfrm>
          <a:prstGeom prst="rect">
            <a:avLst/>
          </a:prstGeom>
          <a:solidFill>
            <a:srgbClr val="161D2B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2" name="Text 90"/>
          <p:cNvSpPr/>
          <p:nvPr/>
        </p:nvSpPr>
        <p:spPr>
          <a:xfrm>
            <a:off x="288036" y="4001643"/>
            <a:ext cx="1817370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71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task while you go and do something else</a:t>
            </a:r>
            <a:endParaRPr lang="en-US" sz="7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3" name="Text 91"/>
          <p:cNvSpPr/>
          <p:nvPr/>
        </p:nvSpPr>
        <p:spPr>
          <a:xfrm>
            <a:off x="2256282" y="4001643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4" name="Text 92"/>
          <p:cNvSpPr/>
          <p:nvPr/>
        </p:nvSpPr>
        <p:spPr>
          <a:xfrm>
            <a:off x="2475738" y="4015359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must stay in the chat and wait for it to finish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5" name="Text 93"/>
          <p:cNvSpPr/>
          <p:nvPr/>
        </p:nvSpPr>
        <p:spPr>
          <a:xfrm>
            <a:off x="4560570" y="4001643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6" name="Text 94"/>
          <p:cNvSpPr/>
          <p:nvPr/>
        </p:nvSpPr>
        <p:spPr>
          <a:xfrm>
            <a:off x="4780026" y="4015359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fully in the background — you step away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7" name="Text 95"/>
          <p:cNvSpPr/>
          <p:nvPr/>
        </p:nvSpPr>
        <p:spPr>
          <a:xfrm>
            <a:off x="6864858" y="4001643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8" name="Text 96"/>
          <p:cNvSpPr/>
          <p:nvPr/>
        </p:nvSpPr>
        <p:spPr>
          <a:xfrm>
            <a:off x="7084314" y="4015359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agents can run for hours unattended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9" name="Text 97"/>
          <p:cNvSpPr/>
          <p:nvPr/>
        </p:nvSpPr>
        <p:spPr>
          <a:xfrm>
            <a:off x="288036" y="4272534"/>
            <a:ext cx="1817370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71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a task to repeat automatically (daily, weekly)</a:t>
            </a:r>
            <a:endParaRPr lang="en-US" sz="7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0" name="Text 98"/>
          <p:cNvSpPr/>
          <p:nvPr/>
        </p:nvSpPr>
        <p:spPr>
          <a:xfrm>
            <a:off x="2256282" y="4272534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1" name="Text 99"/>
          <p:cNvSpPr/>
          <p:nvPr/>
        </p:nvSpPr>
        <p:spPr>
          <a:xfrm>
            <a:off x="2475738" y="4286250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possible in chat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2" name="Text 100"/>
          <p:cNvSpPr/>
          <p:nvPr/>
        </p:nvSpPr>
        <p:spPr>
          <a:xfrm>
            <a:off x="4560570" y="4272534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3" name="Text 101"/>
          <p:cNvSpPr/>
          <p:nvPr/>
        </p:nvSpPr>
        <p:spPr>
          <a:xfrm>
            <a:off x="4780026" y="4286250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daily or weekly recurring tasks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4" name="Text 102"/>
          <p:cNvSpPr/>
          <p:nvPr/>
        </p:nvSpPr>
        <p:spPr>
          <a:xfrm>
            <a:off x="6864858" y="4272534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5" name="Text 103"/>
          <p:cNvSpPr/>
          <p:nvPr/>
        </p:nvSpPr>
        <p:spPr>
          <a:xfrm>
            <a:off x="7084314" y="4286250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runs via Desktop app or command line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6" name="Shape 104"/>
          <p:cNvSpPr/>
          <p:nvPr/>
        </p:nvSpPr>
        <p:spPr>
          <a:xfrm>
            <a:off x="192024" y="4502277"/>
            <a:ext cx="8867394" cy="270891"/>
          </a:xfrm>
          <a:prstGeom prst="rect">
            <a:avLst/>
          </a:prstGeom>
          <a:solidFill>
            <a:srgbClr val="161D2B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7" name="Text 105"/>
          <p:cNvSpPr/>
          <p:nvPr/>
        </p:nvSpPr>
        <p:spPr>
          <a:xfrm>
            <a:off x="288036" y="4543425"/>
            <a:ext cx="1817370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71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to Google Drive, Gmail, Docusign or Slack</a:t>
            </a:r>
            <a:endParaRPr lang="en-US" sz="7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8" name="Text 106"/>
          <p:cNvSpPr/>
          <p:nvPr/>
        </p:nvSpPr>
        <p:spPr>
          <a:xfrm>
            <a:off x="2256282" y="4543425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9" name="Text 107"/>
          <p:cNvSpPr/>
          <p:nvPr/>
        </p:nvSpPr>
        <p:spPr>
          <a:xfrm>
            <a:off x="2475738" y="4557141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has no connectors to external services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0" name="Text 108"/>
          <p:cNvSpPr/>
          <p:nvPr/>
        </p:nvSpPr>
        <p:spPr>
          <a:xfrm>
            <a:off x="4560570" y="4543425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1" name="Text 109"/>
          <p:cNvSpPr/>
          <p:nvPr/>
        </p:nvSpPr>
        <p:spPr>
          <a:xfrm>
            <a:off x="4780026" y="4557141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Drive, Gmail, Docusign, Slack &amp; more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2" name="Text 110"/>
          <p:cNvSpPr/>
          <p:nvPr/>
        </p:nvSpPr>
        <p:spPr>
          <a:xfrm>
            <a:off x="6864858" y="4543425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3" name="Text 111"/>
          <p:cNvSpPr/>
          <p:nvPr/>
        </p:nvSpPr>
        <p:spPr>
          <a:xfrm>
            <a:off x="7084314" y="4557141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designed for this — use MCP servers instead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4" name="Shape 112"/>
          <p:cNvSpPr/>
          <p:nvPr/>
        </p:nvSpPr>
        <p:spPr>
          <a:xfrm>
            <a:off x="192024" y="4800600"/>
            <a:ext cx="8867394" cy="205740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5" name="Text 113"/>
          <p:cNvSpPr/>
          <p:nvPr/>
        </p:nvSpPr>
        <p:spPr>
          <a:xfrm>
            <a:off x="260604" y="4848606"/>
            <a:ext cx="13716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6" name="Text 114"/>
          <p:cNvSpPr/>
          <p:nvPr/>
        </p:nvSpPr>
        <p:spPr>
          <a:xfrm>
            <a:off x="425196" y="4855464"/>
            <a:ext cx="2125980" cy="1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 do it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7" name="Text 115"/>
          <p:cNvSpPr/>
          <p:nvPr/>
        </p:nvSpPr>
        <p:spPr>
          <a:xfrm>
            <a:off x="2660904" y="4848606"/>
            <a:ext cx="13716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8" name="Text 116"/>
          <p:cNvSpPr/>
          <p:nvPr/>
        </p:nvSpPr>
        <p:spPr>
          <a:xfrm>
            <a:off x="2825496" y="4855464"/>
            <a:ext cx="2125980" cy="1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Cannot do it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9" name="Text 117"/>
          <p:cNvSpPr/>
          <p:nvPr/>
        </p:nvSpPr>
        <p:spPr>
          <a:xfrm>
            <a:off x="5061204" y="4848606"/>
            <a:ext cx="13716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0" name="Text 118"/>
          <p:cNvSpPr/>
          <p:nvPr/>
        </p:nvSpPr>
        <p:spPr>
          <a:xfrm>
            <a:off x="5225796" y="4855464"/>
            <a:ext cx="2125980" cy="1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Partial — with limitations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1" name="Text 119"/>
          <p:cNvSpPr/>
          <p:nvPr/>
        </p:nvSpPr>
        <p:spPr>
          <a:xfrm>
            <a:off x="7530084" y="4848606"/>
            <a:ext cx="161163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rule: Chat = think &amp; advise.  Cowork = do the work on your files.  Code = do the work in your codebase.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2024" y="82296"/>
            <a:ext cx="8867394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685800"/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vs Cowork vs Code — What You Can (and Cannot) Do</a:t>
            </a:r>
            <a:endParaRPr lang="en-US" sz="15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92024" y="397764"/>
            <a:ext cx="8867394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685800"/>
            <a:r>
              <a:rPr lang="en-US" sz="78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Claude brain — very different superpowers. Pick the right mode for each task.  ·  Part 2 of 2: Developer work &amp; which mode to pick</a:t>
            </a:r>
            <a:endParaRPr lang="en-US" sz="78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92024" y="617220"/>
            <a:ext cx="1954530" cy="301752"/>
          </a:xfrm>
          <a:prstGeom prst="rect">
            <a:avLst/>
          </a:prstGeom>
          <a:solidFill>
            <a:srgbClr val="252D3D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288036" y="699516"/>
            <a:ext cx="181737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75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187702" y="617220"/>
            <a:ext cx="2263140" cy="301752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2283714" y="685800"/>
            <a:ext cx="21259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Chat Mode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491990" y="617220"/>
            <a:ext cx="2263140" cy="30175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88002" y="685800"/>
            <a:ext cx="21259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 Cowork Mode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796278" y="617220"/>
            <a:ext cx="2263140" cy="3017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92290" y="685800"/>
            <a:ext cx="21259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⌨️  Code Mode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92024" y="918972"/>
            <a:ext cx="1954530" cy="192024"/>
          </a:xfrm>
          <a:prstGeom prst="rect">
            <a:avLst/>
          </a:prstGeom>
          <a:solidFill>
            <a:srgbClr val="1E2535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187702" y="918972"/>
            <a:ext cx="2263140" cy="192024"/>
          </a:xfrm>
          <a:prstGeom prst="rect">
            <a:avLst/>
          </a:prstGeom>
          <a:solidFill>
            <a:srgbClr val="A855F7">
              <a:alpha val="15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283714" y="953262"/>
            <a:ext cx="21259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do it?   Note</a:t>
            </a:r>
            <a:endParaRPr lang="en-US" sz="5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491990" y="918972"/>
            <a:ext cx="2263140" cy="192024"/>
          </a:xfrm>
          <a:prstGeom prst="rect">
            <a:avLst/>
          </a:prstGeom>
          <a:solidFill>
            <a:srgbClr val="F97316">
              <a:alpha val="15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88002" y="953262"/>
            <a:ext cx="21259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do it?   Note</a:t>
            </a:r>
            <a:endParaRPr lang="en-US" sz="5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796278" y="918972"/>
            <a:ext cx="2263140" cy="192024"/>
          </a:xfrm>
          <a:prstGeom prst="rect">
            <a:avLst/>
          </a:prstGeom>
          <a:solidFill>
            <a:srgbClr val="2DD4BF">
              <a:alpha val="15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92290" y="953262"/>
            <a:ext cx="21259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do it?   Note</a:t>
            </a:r>
            <a:endParaRPr lang="en-US" sz="5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92024" y="1110996"/>
            <a:ext cx="8867394" cy="205740"/>
          </a:xfrm>
          <a:prstGeom prst="rect">
            <a:avLst/>
          </a:prstGeom>
          <a:solidFill>
            <a:srgbClr val="0A2D2D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88036" y="1145286"/>
            <a:ext cx="873023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 — CODE &amp; DEVELOPER WORK: FOR SOFTWARE DEVELOPERS ONLY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92024" y="1316736"/>
            <a:ext cx="8867394" cy="270891"/>
          </a:xfrm>
          <a:prstGeom prst="rect">
            <a:avLst/>
          </a:prstGeom>
          <a:solidFill>
            <a:srgbClr val="161D2B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88036" y="1357884"/>
            <a:ext cx="1817370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71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and understand your whole codebase at once</a:t>
            </a:r>
            <a:endParaRPr lang="en-US" sz="7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256282" y="1357884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475738" y="1371600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files one by one manually — no project context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60570" y="1357884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780026" y="1371600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read files but is not codebase-aware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864858" y="1357884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084314" y="1371600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the full project at once — this is its home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88036" y="1628775"/>
            <a:ext cx="1817370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71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code files and save the changes directly</a:t>
            </a:r>
            <a:endParaRPr lang="en-US" sz="7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256282" y="1628775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475738" y="1642491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you the code — you copy and paste it yourself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560570" y="1628775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780026" y="1642491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edit files but limited understanding of code structure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864858" y="1628775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084314" y="1642491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Edits files in place automatically — no copy-paste needed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92024" y="1858518"/>
            <a:ext cx="8867394" cy="270891"/>
          </a:xfrm>
          <a:prstGeom prst="rect">
            <a:avLst/>
          </a:prstGeom>
          <a:solidFill>
            <a:srgbClr val="161D2B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88036" y="1899666"/>
            <a:ext cx="1817370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71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tests, linting and build commands (e.g. npm test)</a:t>
            </a:r>
            <a:endParaRPr lang="en-US" sz="7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2256282" y="1899666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2475738" y="1913382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run any commands on your machine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560570" y="1899666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780026" y="1913382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terminal access — sandboxed for safety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864858" y="1899666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084314" y="1913382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terminal access — npm test, make, python, anything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288036" y="2170557"/>
            <a:ext cx="1817370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71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changes to git and open a pull request</a:t>
            </a:r>
            <a:endParaRPr lang="en-US" sz="7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2256282" y="2170557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2475738" y="2184273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possible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4560570" y="2170557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4780026" y="2184273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git access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864858" y="2170557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7084314" y="2184273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git support — commit, push, open PR automatically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192024" y="2400300"/>
            <a:ext cx="8867394" cy="270891"/>
          </a:xfrm>
          <a:prstGeom prst="rect">
            <a:avLst/>
          </a:prstGeom>
          <a:solidFill>
            <a:srgbClr val="161D2B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288036" y="2441448"/>
            <a:ext cx="1817370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71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on multiple branches or features at the same time</a:t>
            </a:r>
            <a:endParaRPr lang="en-US" sz="7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2256282" y="2441448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2475738" y="2455164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conversation — no parallel work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4560570" y="2441448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4780026" y="2455164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designed for parallel coding work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6864858" y="2441448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7084314" y="2455164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sessions in separate git branches simultaneously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288036" y="2712339"/>
            <a:ext cx="1817370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71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coding tasks overnight while you sleep</a:t>
            </a:r>
            <a:endParaRPr lang="en-US" sz="7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2256282" y="2712339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2475738" y="2726055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ends when you close the browser tab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4560570" y="2712339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4780026" y="2726055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run background tasks but not git/code-aware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6864858" y="2712339"/>
            <a:ext cx="192024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7084314" y="2726055"/>
            <a:ext cx="19202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agents run for hours — wake up to finished code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192024" y="3010662"/>
            <a:ext cx="8867394" cy="2029968"/>
          </a:xfrm>
          <a:prstGeom prst="rect">
            <a:avLst/>
          </a:prstGeom>
          <a:solidFill>
            <a:srgbClr val="1A1F2E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329184" y="3065526"/>
            <a:ext cx="859307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Which mode should I use?</a:t>
            </a:r>
            <a:endParaRPr lang="en-US" sz="8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329184" y="3298698"/>
            <a:ext cx="6720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713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need a quick answer, a draft, or help thinking something through"</a:t>
            </a:r>
            <a:endParaRPr lang="en-US" sz="7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7118604" y="3298698"/>
            <a:ext cx="19888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7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Use Chat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329184" y="3734181"/>
            <a:ext cx="6720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713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need Claude to work on my actual files and hand me a finished result"</a:t>
            </a:r>
            <a:endParaRPr lang="en-US" sz="7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7118604" y="3734181"/>
            <a:ext cx="19888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7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Use Cowork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329184" y="4169664"/>
            <a:ext cx="6720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713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need Claude to read my code project, fix bugs, run tests and commit"</a:t>
            </a:r>
            <a:endParaRPr lang="en-US" sz="7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7118604" y="4169664"/>
            <a:ext cx="19888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7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Use Code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329184" y="4605147"/>
            <a:ext cx="6720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713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want to build my own app or automate something at scale"</a:t>
            </a:r>
            <a:endParaRPr lang="en-US" sz="7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7118604" y="4605147"/>
            <a:ext cx="19888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7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Use the API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192024" y="4910328"/>
            <a:ext cx="8867394" cy="205740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260604" y="4958334"/>
            <a:ext cx="13716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425196" y="4965192"/>
            <a:ext cx="2125980" cy="1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 do it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2660904" y="4958334"/>
            <a:ext cx="13716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2825496" y="4965192"/>
            <a:ext cx="2125980" cy="1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Cannot do it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5061204" y="4958334"/>
            <a:ext cx="13716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5225796" y="4965192"/>
            <a:ext cx="2125980" cy="1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Partial — with limitations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7530084" y="4958334"/>
            <a:ext cx="161163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rule: Chat = think &amp; advise.  Cowork = do the work on your files.  Code = do the work in your codebase.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2024" y="68580"/>
            <a:ext cx="877824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Features — What All Three Modes Have in Common</a:t>
            </a:r>
            <a:endParaRPr lang="en-US" sz="15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92024" y="390906"/>
            <a:ext cx="87782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78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Chat, Cowork, and Code all share these building blocks — but each uses them differently</a:t>
            </a:r>
            <a:endParaRPr lang="en-US" sz="78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789420" y="68580"/>
            <a:ext cx="891540" cy="178308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6789420" y="89154"/>
            <a:ext cx="8915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Chat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708392" y="68580"/>
            <a:ext cx="891540" cy="17830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08392" y="89154"/>
            <a:ext cx="8915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Cowork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463064" y="68580"/>
            <a:ext cx="658076" cy="178308"/>
          </a:xfrm>
          <a:prstGeom prst="rect">
            <a:avLst/>
          </a:prstGeom>
          <a:solidFill>
            <a:srgbClr val="0F1117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0" y="89154"/>
            <a:ext cx="8915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627364" y="68580"/>
            <a:ext cx="51435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⌨️ Code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92024" y="617220"/>
            <a:ext cx="2160270" cy="1961388"/>
          </a:xfrm>
          <a:prstGeom prst="rect">
            <a:avLst/>
          </a:prstGeom>
          <a:solidFill>
            <a:srgbClr val="141B27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92024" y="617220"/>
            <a:ext cx="2160270" cy="28803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74320" y="672084"/>
            <a:ext cx="200939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3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 File Uploads</a:t>
            </a:r>
            <a:endParaRPr lang="en-US" sz="9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74320" y="932688"/>
            <a:ext cx="20093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Claude a file so it can read and work with the content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4320" y="1152145"/>
            <a:ext cx="1995678" cy="12344"/>
          </a:xfrm>
          <a:prstGeom prst="rect">
            <a:avLst/>
          </a:prstGeom>
          <a:solidFill>
            <a:srgbClr val="3B82F6">
              <a:alpha val="40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4320" y="1220724"/>
            <a:ext cx="82296" cy="82296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84048" y="1193292"/>
            <a:ext cx="49377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74320" y="1330452"/>
            <a:ext cx="200939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20 files · 30 MB each · paste or drag-in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PDF, Word, Excel, images, code, CSV, TXT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74320" y="1666494"/>
            <a:ext cx="82296" cy="82296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84048" y="1639062"/>
            <a:ext cx="49377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Cowork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74320" y="1776222"/>
            <a:ext cx="200939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at a folder on your disk · no limit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Reads, writes and saves files directly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74320" y="2112264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84048" y="2084832"/>
            <a:ext cx="49377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74320" y="2221992"/>
            <a:ext cx="200939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at your code project folder · no limit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the whole codebase at once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420874" y="617220"/>
            <a:ext cx="2160270" cy="1961388"/>
          </a:xfrm>
          <a:prstGeom prst="rect">
            <a:avLst/>
          </a:prstGeom>
          <a:solidFill>
            <a:srgbClr val="141B27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420874" y="617220"/>
            <a:ext cx="2160270" cy="288036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503170" y="672084"/>
            <a:ext cx="200939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3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 Memory</a:t>
            </a:r>
            <a:endParaRPr lang="en-US" sz="9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503170" y="932688"/>
            <a:ext cx="20093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remembers things about you so you don't repeat yourself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503170" y="1152145"/>
            <a:ext cx="1995678" cy="12344"/>
          </a:xfrm>
          <a:prstGeom prst="rect">
            <a:avLst/>
          </a:prstGeom>
          <a:solidFill>
            <a:srgbClr val="EC4899">
              <a:alpha val="40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503170" y="1220724"/>
            <a:ext cx="82296" cy="82296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612898" y="1193292"/>
            <a:ext cx="49377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503170" y="1330452"/>
            <a:ext cx="200939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Auto-saves facts about you across ALL chats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&amp; edit: Settings → Capabilities → Memory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503170" y="1666494"/>
            <a:ext cx="82296" cy="82296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2612898" y="1639062"/>
            <a:ext cx="49377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Cowork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2503170" y="1776222"/>
            <a:ext cx="200939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notes to a /memory folder per project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them at the start of every session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2503170" y="2112264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612898" y="2084832"/>
            <a:ext cx="49377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2503170" y="2221992"/>
            <a:ext cx="200939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file stores your project rules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at the start of every coding session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649724" y="617220"/>
            <a:ext cx="2160270" cy="1961388"/>
          </a:xfrm>
          <a:prstGeom prst="rect">
            <a:avLst/>
          </a:prstGeom>
          <a:solidFill>
            <a:srgbClr val="141B27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649724" y="617220"/>
            <a:ext cx="2160270" cy="288036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732020" y="672084"/>
            <a:ext cx="200939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3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📂  Projects</a:t>
            </a:r>
            <a:endParaRPr lang="en-US" sz="9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732020" y="932688"/>
            <a:ext cx="20093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persistent workspace that keeps context across many sessions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732020" y="1152145"/>
            <a:ext cx="1995678" cy="12344"/>
          </a:xfrm>
          <a:prstGeom prst="rect">
            <a:avLst/>
          </a:prstGeom>
          <a:solidFill>
            <a:srgbClr val="6366F1">
              <a:alpha val="40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732020" y="1220724"/>
            <a:ext cx="82296" cy="82296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841748" y="1193292"/>
            <a:ext cx="49377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4732020" y="1330452"/>
            <a:ext cx="200939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reference files + write standing instructions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chats in the project share the same context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4732020" y="1666494"/>
            <a:ext cx="82296" cy="82296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4841748" y="1639062"/>
            <a:ext cx="49377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Cowork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732020" y="1776222"/>
            <a:ext cx="200939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Organise related tasks with shared files &amp; memory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tasks and artifacts stored per project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4732020" y="2112264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841748" y="2084832"/>
            <a:ext cx="49377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4732020" y="2221992"/>
            <a:ext cx="200939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folder is the workspace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+ session history kept per project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6878574" y="617220"/>
            <a:ext cx="2160270" cy="1961388"/>
          </a:xfrm>
          <a:prstGeom prst="rect">
            <a:avLst/>
          </a:prstGeom>
          <a:solidFill>
            <a:srgbClr val="141B27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6878574" y="617220"/>
            <a:ext cx="2160270" cy="288036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6960870" y="672084"/>
            <a:ext cx="200939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3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  Connectors (MCP)</a:t>
            </a:r>
            <a:endParaRPr lang="en-US" sz="9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6960870" y="932688"/>
            <a:ext cx="20093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Claude to apps you already use — Gmail, Drive, Slack…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6960870" y="1152145"/>
            <a:ext cx="1995678" cy="12344"/>
          </a:xfrm>
          <a:prstGeom prst="rect">
            <a:avLst/>
          </a:prstGeom>
          <a:solidFill>
            <a:srgbClr val="22C55E">
              <a:alpha val="40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6960870" y="1220724"/>
            <a:ext cx="82296" cy="82296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7070598" y="1193292"/>
            <a:ext cx="49377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6960870" y="1330452"/>
            <a:ext cx="200939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→ Connectors → one-click auth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 apps: Google, Notion, Slack, GitHub…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6960870" y="1666494"/>
            <a:ext cx="82296" cy="82296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7070598" y="1639062"/>
            <a:ext cx="49377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Cowork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6960870" y="1776222"/>
            <a:ext cx="200939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connectors + Claude can take actions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read Gmail AND send replies automatically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6960870" y="2112264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7070598" y="2084832"/>
            <a:ext cx="49377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6960870" y="2221992"/>
            <a:ext cx="200939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 in .claude/settings.json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 databases, APIs, GitHub, Jira…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192024" y="2647188"/>
            <a:ext cx="2160270" cy="1961388"/>
          </a:xfrm>
          <a:prstGeom prst="rect">
            <a:avLst/>
          </a:prstGeom>
          <a:solidFill>
            <a:srgbClr val="141B2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192024" y="2647188"/>
            <a:ext cx="2160270" cy="28803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274320" y="2702052"/>
            <a:ext cx="200939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3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Skills</a:t>
            </a:r>
            <a:endParaRPr lang="en-US" sz="9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274320" y="2962656"/>
            <a:ext cx="20093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Claude HOW to do a specific task — like a how-to manual it reads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274320" y="3182113"/>
            <a:ext cx="1995678" cy="12344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274320" y="3250692"/>
            <a:ext cx="82296" cy="82296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384048" y="3223260"/>
            <a:ext cx="49377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274320" y="3360420"/>
            <a:ext cx="200939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from the Skills directory at claude.ai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to all your chats automatically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274320" y="3696462"/>
            <a:ext cx="82296" cy="82296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384048" y="3669030"/>
            <a:ext cx="49377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Cowork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274320" y="3806190"/>
            <a:ext cx="200939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folder inside your project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loads them when the task matches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274320" y="4142232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384048" y="4114800"/>
            <a:ext cx="49377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274320" y="4251960"/>
            <a:ext cx="200939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.claude/skills/ folder in your project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with /skill-name slash command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2420874" y="2647188"/>
            <a:ext cx="2160270" cy="1961388"/>
          </a:xfrm>
          <a:prstGeom prst="rect">
            <a:avLst/>
          </a:prstGeom>
          <a:solidFill>
            <a:srgbClr val="141B27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2420874" y="2647188"/>
            <a:ext cx="2160270" cy="288036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2503170" y="2702052"/>
            <a:ext cx="200939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3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  Plugins</a:t>
            </a:r>
            <a:endParaRPr lang="en-US" sz="9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2503170" y="2962656"/>
            <a:ext cx="20093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bundles: installs Skills + Connectors + commands together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2503170" y="3182113"/>
            <a:ext cx="1995678" cy="12344"/>
          </a:xfrm>
          <a:prstGeom prst="rect">
            <a:avLst/>
          </a:prstGeom>
          <a:solidFill>
            <a:srgbClr val="F43F5E">
              <a:alpha val="40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2503170" y="3250692"/>
            <a:ext cx="82296" cy="82296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7" name="Text 85"/>
          <p:cNvSpPr/>
          <p:nvPr/>
        </p:nvSpPr>
        <p:spPr>
          <a:xfrm>
            <a:off x="2612898" y="3223260"/>
            <a:ext cx="49377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8" name="Text 86"/>
          <p:cNvSpPr/>
          <p:nvPr/>
        </p:nvSpPr>
        <p:spPr>
          <a:xfrm>
            <a:off x="2503170" y="3360420"/>
            <a:ext cx="200939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Plugin Directory at claude.ai/directory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Legal, Marketing, Finance, Small Biz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2503170" y="3696462"/>
            <a:ext cx="82296" cy="82296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0" name="Text 88"/>
          <p:cNvSpPr/>
          <p:nvPr/>
        </p:nvSpPr>
        <p:spPr>
          <a:xfrm>
            <a:off x="2612898" y="3669030"/>
            <a:ext cx="49377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Cowork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1" name="Text 89"/>
          <p:cNvSpPr/>
          <p:nvPr/>
        </p:nvSpPr>
        <p:spPr>
          <a:xfrm>
            <a:off x="2503170" y="3806190"/>
            <a:ext cx="200939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Plugin Directory — same one-click install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 also unlock vertical bundles (Legal etc.)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2503170" y="4142232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3" name="Text 91"/>
          <p:cNvSpPr/>
          <p:nvPr/>
        </p:nvSpPr>
        <p:spPr>
          <a:xfrm>
            <a:off x="2612898" y="4114800"/>
            <a:ext cx="49377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4" name="Text 92"/>
          <p:cNvSpPr/>
          <p:nvPr/>
        </p:nvSpPr>
        <p:spPr>
          <a:xfrm>
            <a:off x="2503170" y="4251960"/>
            <a:ext cx="200939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/plugin marketplace add &lt;name&gt; in terminal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Packages Skills + MCP servers + hooks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5" name="Shape 93"/>
          <p:cNvSpPr/>
          <p:nvPr/>
        </p:nvSpPr>
        <p:spPr>
          <a:xfrm>
            <a:off x="4649724" y="2647188"/>
            <a:ext cx="2160270" cy="1961388"/>
          </a:xfrm>
          <a:prstGeom prst="rect">
            <a:avLst/>
          </a:prstGeom>
          <a:solidFill>
            <a:srgbClr val="141B27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6" name="Shape 94"/>
          <p:cNvSpPr/>
          <p:nvPr/>
        </p:nvSpPr>
        <p:spPr>
          <a:xfrm>
            <a:off x="4649724" y="2647188"/>
            <a:ext cx="2160270" cy="28803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7" name="Text 95"/>
          <p:cNvSpPr/>
          <p:nvPr/>
        </p:nvSpPr>
        <p:spPr>
          <a:xfrm>
            <a:off x="4732020" y="2702052"/>
            <a:ext cx="200939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3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 Artifacts</a:t>
            </a:r>
            <a:endParaRPr lang="en-US" sz="9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8" name="Text 96"/>
          <p:cNvSpPr/>
          <p:nvPr/>
        </p:nvSpPr>
        <p:spPr>
          <a:xfrm>
            <a:off x="4732020" y="2962656"/>
            <a:ext cx="20093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previews of things Claude creates — you can see, edit and share them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9" name="Shape 97"/>
          <p:cNvSpPr/>
          <p:nvPr/>
        </p:nvSpPr>
        <p:spPr>
          <a:xfrm>
            <a:off x="4732020" y="3182113"/>
            <a:ext cx="1995678" cy="12344"/>
          </a:xfrm>
          <a:prstGeom prst="rect">
            <a:avLst/>
          </a:prstGeom>
          <a:solidFill>
            <a:srgbClr val="2DD4BF">
              <a:alpha val="40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4732020" y="3250692"/>
            <a:ext cx="82296" cy="82296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1" name="Text 99"/>
          <p:cNvSpPr/>
          <p:nvPr/>
        </p:nvSpPr>
        <p:spPr>
          <a:xfrm>
            <a:off x="4841748" y="3223260"/>
            <a:ext cx="49377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2" name="Text 100"/>
          <p:cNvSpPr/>
          <p:nvPr/>
        </p:nvSpPr>
        <p:spPr>
          <a:xfrm>
            <a:off x="4732020" y="3360420"/>
            <a:ext cx="200939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Code, HTML, charts, Markdown preview in chat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inline, publish and share with a link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3" name="Shape 101"/>
          <p:cNvSpPr/>
          <p:nvPr/>
        </p:nvSpPr>
        <p:spPr>
          <a:xfrm>
            <a:off x="4732020" y="3696462"/>
            <a:ext cx="82296" cy="82296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4" name="Text 102"/>
          <p:cNvSpPr/>
          <p:nvPr/>
        </p:nvSpPr>
        <p:spPr>
          <a:xfrm>
            <a:off x="4841748" y="3669030"/>
            <a:ext cx="49377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Cowork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5" name="Text 103"/>
          <p:cNvSpPr/>
          <p:nvPr/>
        </p:nvSpPr>
        <p:spPr>
          <a:xfrm>
            <a:off x="4732020" y="3806190"/>
            <a:ext cx="200939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as Chat + saved to your project library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for 90 days, shareable with your team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6" name="Shape 104"/>
          <p:cNvSpPr/>
          <p:nvPr/>
        </p:nvSpPr>
        <p:spPr>
          <a:xfrm>
            <a:off x="4732020" y="4142232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7" name="Text 105"/>
          <p:cNvSpPr/>
          <p:nvPr/>
        </p:nvSpPr>
        <p:spPr>
          <a:xfrm>
            <a:off x="4841748" y="4114800"/>
            <a:ext cx="49377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8" name="Text 106"/>
          <p:cNvSpPr/>
          <p:nvPr/>
        </p:nvSpPr>
        <p:spPr>
          <a:xfrm>
            <a:off x="4732020" y="4251960"/>
            <a:ext cx="200939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output goes directly into real files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artifact panel — files ARE the output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9" name="Shape 107"/>
          <p:cNvSpPr/>
          <p:nvPr/>
        </p:nvSpPr>
        <p:spPr>
          <a:xfrm>
            <a:off x="6878574" y="2647188"/>
            <a:ext cx="2160270" cy="1961388"/>
          </a:xfrm>
          <a:prstGeom prst="rect">
            <a:avLst/>
          </a:prstGeom>
          <a:solidFill>
            <a:srgbClr val="141B2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0" name="Shape 108"/>
          <p:cNvSpPr/>
          <p:nvPr/>
        </p:nvSpPr>
        <p:spPr>
          <a:xfrm>
            <a:off x="6878574" y="2647188"/>
            <a:ext cx="2160270" cy="288036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1" name="Text 109"/>
          <p:cNvSpPr/>
          <p:nvPr/>
        </p:nvSpPr>
        <p:spPr>
          <a:xfrm>
            <a:off x="6960870" y="2702052"/>
            <a:ext cx="200939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3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Web Search</a:t>
            </a:r>
            <a:endParaRPr lang="en-US" sz="9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2" name="Text 110"/>
          <p:cNvSpPr/>
          <p:nvPr/>
        </p:nvSpPr>
        <p:spPr>
          <a:xfrm>
            <a:off x="6960870" y="2962656"/>
            <a:ext cx="20093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38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looks up current information from the internet while working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3" name="Shape 111"/>
          <p:cNvSpPr/>
          <p:nvPr/>
        </p:nvSpPr>
        <p:spPr>
          <a:xfrm>
            <a:off x="6960870" y="3182113"/>
            <a:ext cx="1995678" cy="12344"/>
          </a:xfrm>
          <a:prstGeom prst="rect">
            <a:avLst/>
          </a:prstGeom>
          <a:solidFill>
            <a:srgbClr val="A855F7">
              <a:alpha val="40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4" name="Shape 112"/>
          <p:cNvSpPr/>
          <p:nvPr/>
        </p:nvSpPr>
        <p:spPr>
          <a:xfrm>
            <a:off x="6960870" y="3250692"/>
            <a:ext cx="82296" cy="82296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5" name="Text 113"/>
          <p:cNvSpPr/>
          <p:nvPr/>
        </p:nvSpPr>
        <p:spPr>
          <a:xfrm>
            <a:off x="7070598" y="3223260"/>
            <a:ext cx="49377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6" name="Text 114"/>
          <p:cNvSpPr/>
          <p:nvPr/>
        </p:nvSpPr>
        <p:spPr>
          <a:xfrm>
            <a:off x="6960870" y="3360420"/>
            <a:ext cx="200939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the search button or ask Claude to search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mode (Pro+) does multi-source reports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7" name="Shape 115"/>
          <p:cNvSpPr/>
          <p:nvPr/>
        </p:nvSpPr>
        <p:spPr>
          <a:xfrm>
            <a:off x="6960870" y="3696462"/>
            <a:ext cx="82296" cy="82296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8" name="Text 116"/>
          <p:cNvSpPr/>
          <p:nvPr/>
        </p:nvSpPr>
        <p:spPr>
          <a:xfrm>
            <a:off x="7070598" y="3669030"/>
            <a:ext cx="49377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Cowork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9" name="Text 117"/>
          <p:cNvSpPr/>
          <p:nvPr/>
        </p:nvSpPr>
        <p:spPr>
          <a:xfrm>
            <a:off x="6960870" y="3806190"/>
            <a:ext cx="200939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during agentic tasks automatically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fetches current info as part of the job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0" name="Shape 118"/>
          <p:cNvSpPr/>
          <p:nvPr/>
        </p:nvSpPr>
        <p:spPr>
          <a:xfrm>
            <a:off x="6960870" y="4142232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1" name="Text 119"/>
          <p:cNvSpPr/>
          <p:nvPr/>
        </p:nvSpPr>
        <p:spPr>
          <a:xfrm>
            <a:off x="7070598" y="4114800"/>
            <a:ext cx="49377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2" name="Text 120"/>
          <p:cNvSpPr/>
          <p:nvPr/>
        </p:nvSpPr>
        <p:spPr>
          <a:xfrm>
            <a:off x="6960870" y="4251960"/>
            <a:ext cx="200939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WebSearch tool enabled in settings.json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can look up docs, packages, error fixes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3" name="Shape 121"/>
          <p:cNvSpPr/>
          <p:nvPr/>
        </p:nvSpPr>
        <p:spPr>
          <a:xfrm>
            <a:off x="192024" y="4732020"/>
            <a:ext cx="8757666" cy="246888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4" name="Shape 122"/>
          <p:cNvSpPr/>
          <p:nvPr/>
        </p:nvSpPr>
        <p:spPr>
          <a:xfrm>
            <a:off x="260604" y="4814316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5" name="Text 123"/>
          <p:cNvSpPr/>
          <p:nvPr/>
        </p:nvSpPr>
        <p:spPr>
          <a:xfrm>
            <a:off x="370332" y="4786884"/>
            <a:ext cx="16116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= the HOW  —  teach Claude your workflow</a:t>
            </a:r>
            <a:endParaRPr lang="en-US" sz="5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6" name="Shape 124"/>
          <p:cNvSpPr/>
          <p:nvPr/>
        </p:nvSpPr>
        <p:spPr>
          <a:xfrm>
            <a:off x="2016252" y="4814316"/>
            <a:ext cx="82296" cy="82296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7" name="Text 125"/>
          <p:cNvSpPr/>
          <p:nvPr/>
        </p:nvSpPr>
        <p:spPr>
          <a:xfrm>
            <a:off x="2125980" y="4786884"/>
            <a:ext cx="16116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Connectors = the ACCESS  —  give Claude permission to your apps</a:t>
            </a:r>
            <a:endParaRPr lang="en-US" sz="5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8" name="Shape 126"/>
          <p:cNvSpPr/>
          <p:nvPr/>
        </p:nvSpPr>
        <p:spPr>
          <a:xfrm>
            <a:off x="3771900" y="4814316"/>
            <a:ext cx="82296" cy="82296"/>
          </a:xfrm>
          <a:prstGeom prst="ellipse">
            <a:avLst/>
          </a:prstGeom>
          <a:solidFill>
            <a:srgbClr val="F43F5E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9" name="Text 127"/>
          <p:cNvSpPr/>
          <p:nvPr/>
        </p:nvSpPr>
        <p:spPr>
          <a:xfrm>
            <a:off x="3881628" y="4786884"/>
            <a:ext cx="16116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 = the PACKAGE  —  bundle of Skills + Connectors in one click</a:t>
            </a:r>
            <a:endParaRPr lang="en-US" sz="5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0" name="Shape 128"/>
          <p:cNvSpPr/>
          <p:nvPr/>
        </p:nvSpPr>
        <p:spPr>
          <a:xfrm>
            <a:off x="5527548" y="4814316"/>
            <a:ext cx="82296" cy="82296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1" name="Text 129"/>
          <p:cNvSpPr/>
          <p:nvPr/>
        </p:nvSpPr>
        <p:spPr>
          <a:xfrm>
            <a:off x="5637276" y="4786884"/>
            <a:ext cx="16116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= the RECALL  —  Claude remembers across sessions</a:t>
            </a:r>
            <a:endParaRPr lang="en-US" sz="5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2" name="Shape 130"/>
          <p:cNvSpPr/>
          <p:nvPr/>
        </p:nvSpPr>
        <p:spPr>
          <a:xfrm>
            <a:off x="7283196" y="4814316"/>
            <a:ext cx="82296" cy="82296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3" name="Text 131"/>
          <p:cNvSpPr/>
          <p:nvPr/>
        </p:nvSpPr>
        <p:spPr>
          <a:xfrm>
            <a:off x="7392924" y="4786884"/>
            <a:ext cx="16116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= the WORKSPACE  —  persistent context for ongoing work</a:t>
            </a:r>
            <a:endParaRPr lang="en-US" sz="56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82880"/>
            <a:ext cx="6949440" cy="6949440"/>
          </a:xfrm>
          <a:prstGeom prst="ellipse">
            <a:avLst/>
          </a:prstGeom>
          <a:solidFill>
            <a:srgbClr val="A855F7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365760" y="19933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101 — Complete Introduction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743200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Claude is Anthropic's safe, helpful, honest AI assistant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3108960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 Powered by Constitutional AI and RLHF/RLAIF training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3474720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Four tiers: Haiku · Sonnet · Opus · Fable 5 (Mythos-class, June 2026)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840480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 Use via claude.ai (chat) or the API (build products &amp; automate)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4206240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Writing, coding, research, analysis &amp; long-horizon agentic work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4572000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Start free at claude.ai today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4956048"/>
            <a:ext cx="2743200" cy="36576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50749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Anthropic · anthropic.com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3697</Words>
  <Application>Microsoft Office PowerPoint</Application>
  <PresentationFormat>On-screen Show (16:9)</PresentationFormat>
  <Paragraphs>596</Paragraphs>
  <Slides>16</Slides>
  <Notes>16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Courier New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kamineni, srinivasulu</cp:lastModifiedBy>
  <cp:revision>6</cp:revision>
  <dcterms:created xsi:type="dcterms:W3CDTF">2026-07-21T07:13:59Z</dcterms:created>
  <dcterms:modified xsi:type="dcterms:W3CDTF">2026-07-29T02:41:05Z</dcterms:modified>
</cp:coreProperties>
</file>